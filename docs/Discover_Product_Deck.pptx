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0d87df3ef1f4551" /><Relationship Type="http://schemas.openxmlformats.org/officeDocument/2006/relationships/extended-properties" Target="/docProps/app.xml" Id="R65791d5c9ac144e4" /><Relationship Type="http://schemas.openxmlformats.org/officeDocument/2006/relationships/officeDocument" Target="/ppt/presentation.xml" Id="R0db0aad8bb954ce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efca4e2e98434d"/>
  </p:sldMasterIdLst>
  <p:notesMasterIdLst>
    <p:notesMasterId xmlns:r="http://schemas.openxmlformats.org/officeDocument/2006/relationships" r:id="R1ecda69021a8419b"/>
  </p:notesMasterIdLst>
  <p:sldIdLst>
    <p:sldId xmlns:r="http://schemas.openxmlformats.org/officeDocument/2006/relationships" id="256" r:id="R7176ca7efcda4ecb"/>
    <p:sldId xmlns:r="http://schemas.openxmlformats.org/officeDocument/2006/relationships" id="257" r:id="Rf935d99b584d4a81"/>
    <p:sldId xmlns:r="http://schemas.openxmlformats.org/officeDocument/2006/relationships" id="258" r:id="R3315c2dd915c436a"/>
    <p:sldId xmlns:r="http://schemas.openxmlformats.org/officeDocument/2006/relationships" id="259" r:id="R3a3e15c94d5a4484"/>
    <p:sldId xmlns:r="http://schemas.openxmlformats.org/officeDocument/2006/relationships" id="260" r:id="Rf17772c4160341dc"/>
    <p:sldId xmlns:r="http://schemas.openxmlformats.org/officeDocument/2006/relationships" id="261" r:id="Rce1f59d5f2d248e3"/>
    <p:sldId xmlns:r="http://schemas.openxmlformats.org/officeDocument/2006/relationships" id="262" r:id="Rab7d64fbb3a4459e"/>
    <p:sldId xmlns:r="http://schemas.openxmlformats.org/officeDocument/2006/relationships" id="263" r:id="R529e56065265422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1ff027c1b514ed6" /><Relationship Type="http://schemas.openxmlformats.org/officeDocument/2006/relationships/slideMaster" Target="/ppt/slideMasters/slideMaster1.xml" Id="Refefca4e2e98434d" /><Relationship Type="http://schemas.openxmlformats.org/officeDocument/2006/relationships/notesMaster" Target="/ppt/notesMasters/notesMaster1.xml" Id="R1ecda69021a8419b" /><Relationship Type="http://schemas.openxmlformats.org/officeDocument/2006/relationships/presProps" Target="/ppt/presProps.xml" Id="R5e357b7ae86e4763" /><Relationship Type="http://schemas.openxmlformats.org/officeDocument/2006/relationships/viewProps" Target="/ppt/viewProps.xml" Id="R79687f48e11a4990" /><Relationship Type="http://schemas.openxmlformats.org/officeDocument/2006/relationships/tableStyles" Target="/ppt/tableStyles.xml" Id="R264f069d3aba40da" /><Relationship Type="http://schemas.openxmlformats.org/officeDocument/2006/relationships/slide" Target="/ppt/slides/slide1.xml" Id="R7176ca7efcda4ecb" /><Relationship Type="http://schemas.openxmlformats.org/officeDocument/2006/relationships/slide" Target="/ppt/slides/slide2.xml" Id="Rf935d99b584d4a81" /><Relationship Type="http://schemas.openxmlformats.org/officeDocument/2006/relationships/slide" Target="/ppt/slides/slide3.xml" Id="R3315c2dd915c436a" /><Relationship Type="http://schemas.openxmlformats.org/officeDocument/2006/relationships/slide" Target="/ppt/slides/slide4.xml" Id="R3a3e15c94d5a4484" /><Relationship Type="http://schemas.openxmlformats.org/officeDocument/2006/relationships/slide" Target="/ppt/slides/slide5.xml" Id="Rf17772c4160341dc" /><Relationship Type="http://schemas.openxmlformats.org/officeDocument/2006/relationships/slide" Target="/ppt/slides/slide6.xml" Id="Rce1f59d5f2d248e3" /><Relationship Type="http://schemas.openxmlformats.org/officeDocument/2006/relationships/slide" Target="/ppt/slides/slide7.xml" Id="Rab7d64fbb3a4459e" /><Relationship Type="http://schemas.openxmlformats.org/officeDocument/2006/relationships/slide" Target="/ppt/slides/slide8.xml" Id="R529e56065265422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e2f4f2eb6224b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ae8786fad8a4f2e" /><Relationship Type="http://schemas.openxmlformats.org/officeDocument/2006/relationships/notesMaster" Target="/ppt/notesMasters/notesMaster1.xml" Id="R7cd12f22420143b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afe0879785a4e9d" /><Relationship Type="http://schemas.openxmlformats.org/officeDocument/2006/relationships/notesMaster" Target="/ppt/notesMasters/notesMaster1.xml" Id="R7a559bf0268a48a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b2dd0be7b7a402a" /><Relationship Type="http://schemas.openxmlformats.org/officeDocument/2006/relationships/notesMaster" Target="/ppt/notesMasters/notesMaster1.xml" Id="R8e1fda658429496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d12c77f2cc748a6" /><Relationship Type="http://schemas.openxmlformats.org/officeDocument/2006/relationships/notesMaster" Target="/ppt/notesMasters/notesMaster1.xml" Id="R0153ae9f23844c4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cc14a6f12fc47a1" /><Relationship Type="http://schemas.openxmlformats.org/officeDocument/2006/relationships/notesMaster" Target="/ppt/notesMasters/notesMaster1.xml" Id="R543f0c036b0247e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1322cc6e1804265" /><Relationship Type="http://schemas.openxmlformats.org/officeDocument/2006/relationships/notesMaster" Target="/ppt/notesMasters/notesMaster1.xml" Id="Rfa7b105eb1f44e4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e099ca4056e48a9" /><Relationship Type="http://schemas.openxmlformats.org/officeDocument/2006/relationships/notesMaster" Target="/ppt/notesMasters/notesMaster1.xml" Id="R9f7c9443ad17454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573acc3ae7349a7" /><Relationship Type="http://schemas.openxmlformats.org/officeDocument/2006/relationships/notesMaster" Target="/ppt/notesMasters/notesMaster1.xml" Id="R805df0f911e1473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42afe4a756407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97c59637adc419c" /><Relationship Type="http://schemas.openxmlformats.org/officeDocument/2006/relationships/slideLayout" Target="/ppt/slideLayouts/slideLayout1.xml" Id="Rde01da443452420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e01da443452420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1ed94799774169" /><Relationship Type="http://schemas.openxmlformats.org/officeDocument/2006/relationships/notesSlide" Target="/ppt/notesSlides/notesSlide1.xml" Id="Rfbe0fec78fc34c4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64eaea88094d12" /><Relationship Type="http://schemas.openxmlformats.org/officeDocument/2006/relationships/notesSlide" Target="/ppt/notesSlides/notesSlide2.xml" Id="Rd7cb46a3d2a54b7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3795667fa94fe2" /><Relationship Type="http://schemas.openxmlformats.org/officeDocument/2006/relationships/notesSlide" Target="/ppt/notesSlides/notesSlide3.xml" Id="R73165e9fbbdb456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04fa3c9f394939" /><Relationship Type="http://schemas.openxmlformats.org/officeDocument/2006/relationships/notesSlide" Target="/ppt/notesSlides/notesSlide4.xml" Id="R30bc23f747694e1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cf491396ab4b77" /><Relationship Type="http://schemas.openxmlformats.org/officeDocument/2006/relationships/image" Target="/ppt/media/image.png" Id="R859d739ed4294f35" /><Relationship Type="http://schemas.openxmlformats.org/officeDocument/2006/relationships/notesSlide" Target="/ppt/notesSlides/notesSlide5.xml" Id="R80f952f64cfb496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31cfed531b4a53" /><Relationship Type="http://schemas.openxmlformats.org/officeDocument/2006/relationships/notesSlide" Target="/ppt/notesSlides/notesSlide6.xml" Id="R09066da0d0c04c4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a46aa9b717405d" /><Relationship Type="http://schemas.openxmlformats.org/officeDocument/2006/relationships/notesSlide" Target="/ppt/notesSlides/notesSlide7.xml" Id="Ra50b500640c0446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858a1cea554d17" /><Relationship Type="http://schemas.openxmlformats.org/officeDocument/2006/relationships/notesSlide" Target="/ppt/notesSlides/notesSlide8.xml" Id="R9e6996fd21e94cc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7427CB-A6C7-4E3B-818F-0830756B8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B76E12"/>
                </a:solidFill>
                <a:latin typeface="Inter"/>
                <a:ea typeface="Inter"/>
                <a:cs typeface="Inter"/>
              </a:defRPr>
            </a:pPr>
            <a:r>
              <a:t>PHASE 4 PRODUCT FINISH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6B28B9-BF10-4A95-AE57-A751B5C92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4770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201F22"/>
                </a:solidFill>
                <a:latin typeface="Inter"/>
                <a:ea typeface="Inter"/>
                <a:cs typeface="Inter"/>
              </a:defRPr>
            </a:pPr>
            <a:r>
              <a:t>Discover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9F74F3-685D-4960-A275-13D1FFB2F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6572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Local intelligence layer for finding, qualifying, matching, sending, and exporting client-ready profile-building opportunities.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7CC035-8B7C-428F-918E-68EFDC098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314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ED8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D1A5CA-D51C-47BB-BBE6-1968A0C46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24125"/>
            <a:ext cx="10858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Postgres local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ABB96E-E25A-4D64-9D3C-0EFF3DFBE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476500"/>
            <a:ext cx="1485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ED8C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89304C-DF59-4BC0-9C4B-9C063375E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524125"/>
            <a:ext cx="1257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Human-approved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3300BC-A962-41E5-A6DE-38A0C2F6A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476500"/>
            <a:ext cx="1314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ED8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808CCA-DAE8-4435-A7AF-4F192FC0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24125"/>
            <a:ext cx="10858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Evidence handoff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51B116-13F4-40AB-99A7-A70415A23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1809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ED8C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FC9DA3-EF05-482A-A3F9-BEE82427B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86150"/>
            <a:ext cx="1466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201F22"/>
                </a:solidFill>
                <a:latin typeface="Inter"/>
                <a:ea typeface="Inter"/>
                <a:cs typeface="Inter"/>
              </a:defRPr>
            </a:pPr>
            <a:r>
              <a:t>45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102F6B-20CC-49F3-B25C-D9106080C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62400"/>
            <a:ext cx="1466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Canonical sources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BC2DCC-6AD6-4233-A8B6-16EFE00FB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0"/>
            <a:ext cx="1466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8A869A"/>
                </a:solidFill>
                <a:latin typeface="Inter"/>
                <a:ea typeface="Inter"/>
                <a:cs typeface="Inter"/>
              </a:defRPr>
            </a:pPr>
            <a:r>
              <a:t>Imported from master registry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95DCCE-959B-46FD-8268-9D6A1593C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276600"/>
            <a:ext cx="1809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ED8C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A000F3-0DCC-47D7-8473-D457CF1A8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486150"/>
            <a:ext cx="1466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201F22"/>
                </a:solidFill>
                <a:latin typeface="Inter"/>
                <a:ea typeface="Inter"/>
                <a:cs typeface="Inter"/>
              </a:defRPr>
            </a:pPr>
            <a:r>
              <a:t>20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CCA428-A98B-4222-A9F8-5BF7A1836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962400"/>
            <a:ext cx="1466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Active paths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F73BEC-8A94-4775-BF00-769358EB3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191000"/>
            <a:ext cx="1466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8A869A"/>
                </a:solidFill>
                <a:latin typeface="Inter"/>
                <a:ea typeface="Inter"/>
                <a:cs typeface="Inter"/>
              </a:defRPr>
            </a:pPr>
            <a:r>
              <a:t>Vetted real opportunities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309FCE-77DE-45E8-B32A-13B28352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76600"/>
            <a:ext cx="1809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ED8C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34DF75-45F7-4224-9B4A-9318D2346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486150"/>
            <a:ext cx="1466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201F22"/>
                </a:solidFill>
                <a:latin typeface="Inter"/>
                <a:ea typeface="Inter"/>
                <a:cs typeface="Inter"/>
              </a:defRPr>
            </a:pPr>
            <a:r>
              <a:t>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50059C-532B-4A2D-BCA8-876AB86A3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962400"/>
            <a:ext cx="1466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Match signals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133FD4-5013-40DD-858C-5FCB9FA40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191000"/>
            <a:ext cx="1466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8A869A"/>
                </a:solidFill>
                <a:latin typeface="Inter"/>
                <a:ea typeface="Inter"/>
                <a:cs typeface="Inter"/>
              </a:defRPr>
            </a:pPr>
            <a:r>
              <a:t>Including semantic fit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004BA6-8406-4EE5-9370-F75F7B817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666750"/>
            <a:ext cx="3429000" cy="51054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ED8C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784D06-D98F-482E-A887-C1FEE9083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990600"/>
            <a:ext cx="2476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201F22"/>
                </a:solidFill>
                <a:latin typeface="Inter"/>
                <a:ea typeface="Inter"/>
                <a:cs typeface="Inter"/>
              </a:defRPr>
            </a:pPr>
            <a:r>
              <a:t>Operating ladder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3EE970-A458-4EA6-8971-DA07DB79D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314450"/>
            <a:ext cx="2571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From trusted source to client evidence packet.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26F37C-3902-47B6-A61B-5378781FD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943100"/>
            <a:ext cx="2819400" cy="4953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ED8C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91196F-15FA-480B-B4E0-E1E73FCC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28825"/>
            <a:ext cx="1809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01F22"/>
                </a:solidFill>
                <a:latin typeface="Inter"/>
                <a:ea typeface="Inter"/>
                <a:cs typeface="Inter"/>
              </a:defRPr>
            </a:pPr>
            <a:r>
              <a:t>Source registry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E1CA6A-CD9D-4A8A-824B-D8F1E543A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19325"/>
            <a:ext cx="23241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863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45 canonical EB-1A sources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E8BB59-8C92-4E3B-A22E-965752CF7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57450"/>
            <a:ext cx="19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E12"/>
          </a:solidFill>
          <a:ln xmlns:a="http://schemas.openxmlformats.org/drawingml/2006/main" w="9525">
            <a:solidFill>
              <a:srgbClr val="B76E1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4EB334-3BC0-42CC-B51E-A63085690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09850"/>
            <a:ext cx="2819400" cy="4953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ED8C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4C7EEF-EC20-49D8-8985-0CCE5029A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95575"/>
            <a:ext cx="1809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01F22"/>
                </a:solidFill>
                <a:latin typeface="Inter"/>
                <a:ea typeface="Inter"/>
                <a:cs typeface="Inter"/>
              </a:defRPr>
            </a:pPr>
            <a:r>
              <a:t>Guarded refresh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78082D-06AB-4F79-A50D-FC5CDAE87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86075"/>
            <a:ext cx="23241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863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Canonical domains and link checks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83F07F1-3B98-4141-B6FF-DBE22FB25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124200"/>
            <a:ext cx="19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E12"/>
          </a:solidFill>
          <a:ln xmlns:a="http://schemas.openxmlformats.org/drawingml/2006/main" w="9525">
            <a:solidFill>
              <a:srgbClr val="B76E1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9A956EB-7CA1-43DD-9C84-4E34D7F3E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76600"/>
            <a:ext cx="2819400" cy="4953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ED8C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45D7E40-5773-48D3-9319-617074578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62325"/>
            <a:ext cx="1809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01F22"/>
                </a:solidFill>
                <a:latin typeface="Inter"/>
                <a:ea typeface="Inter"/>
                <a:cs typeface="Inter"/>
              </a:defRPr>
            </a:pPr>
            <a:r>
              <a:t>Human review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C0AD8B2-4458-412F-9F5F-CBA6A9C5E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552825"/>
            <a:ext cx="23241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863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Approve uncertain discoveries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6ECB941-1ADF-46EB-BEAF-7EB2E5DDD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790950"/>
            <a:ext cx="19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E12"/>
          </a:solidFill>
          <a:ln xmlns:a="http://schemas.openxmlformats.org/drawingml/2006/main" w="9525">
            <a:solidFill>
              <a:srgbClr val="B76E1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D98B0F8-9A92-4B52-B7DC-BF48360F7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943350"/>
            <a:ext cx="2819400" cy="4953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ED8C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7A4948F-ACF1-4F48-A150-E43A5B228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029075"/>
            <a:ext cx="1809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01F22"/>
                </a:solidFill>
                <a:latin typeface="Inter"/>
                <a:ea typeface="Inter"/>
                <a:cs typeface="Inter"/>
              </a:defRPr>
            </a:pPr>
            <a:r>
              <a:t>Hybrid match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91D4CC3-13D3-43B5-A6C3-5EFA6647F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19575"/>
            <a:ext cx="23241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863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Criteria, credibility, semantic fit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BD2FC9C-3BC5-4F0D-B2BA-CE61BB34B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457700"/>
            <a:ext cx="19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E12"/>
          </a:solidFill>
          <a:ln xmlns:a="http://schemas.openxmlformats.org/drawingml/2006/main" w="9525">
            <a:solidFill>
              <a:srgbClr val="B76E1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F738FA1-D26A-4CBE-B9F6-AFA7E9AE8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610100"/>
            <a:ext cx="2819400" cy="4953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DDF4EC"/>
          </a:solidFill>
          <a:ln xmlns:a="http://schemas.openxmlformats.org/drawingml/2006/main" w="9525">
            <a:solidFill>
              <a:srgbClr val="B9DEC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4906AC2-7999-4AC2-970C-AB4B1209D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95825"/>
            <a:ext cx="1809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1745B"/>
                </a:solidFill>
                <a:latin typeface="Inter"/>
                <a:ea typeface="Inter"/>
                <a:cs typeface="Inter"/>
              </a:defRPr>
            </a:pPr>
            <a:r>
              <a:t>Evidence export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3CDCC58-E4C8-4810-BC42-1469580AE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886325"/>
            <a:ext cx="23241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863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Evidence packet for handoff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836A3A0-EA6E-497D-B8F7-B2EF3315C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9525">
            <a:solidFill>
              <a:srgbClr val="ECE5D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88551D9-4709-4711-B76C-8E7F97A66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4095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Review entry: http://localhost:3004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053659C-772F-4D6A-9815-2B6B4F088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115050"/>
            <a:ext cx="4191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GitHub repository connected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BBD5EEF-EDEF-4C3A-91E6-3BD03B755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9525">
            <a:solidFill>
              <a:srgbClr val="ECE5D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5FFB52F-39E5-4430-A0B8-3CE1C672B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2095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8A869A"/>
                </a:solidFill>
                <a:latin typeface="Inter"/>
                <a:ea typeface="Inter"/>
                <a:cs typeface="Inter"/>
              </a:defRPr>
            </a:pPr>
            <a:r>
              <a:t>Discover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4BB9D4E-3F0E-4B5B-B95B-B32C3373B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8A869A"/>
                </a:solidFill>
                <a:latin typeface="Inter"/>
                <a:ea typeface="Inter"/>
                <a:cs typeface="Inter"/>
              </a:defRPr>
            </a:pPr>
            <a: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152305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ECAC19-C3F0-4086-B39D-0E5D6C00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B76E12"/>
                </a:solidFill>
                <a:latin typeface="Inter"/>
                <a:ea typeface="Inter"/>
                <a:cs typeface="Inter"/>
              </a:defRPr>
            </a:pPr>
            <a:r>
              <a:t>PRODUCT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46D9B8-C675-404B-A0EF-F80F3CDD3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78105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201F22"/>
                </a:solidFill>
                <a:latin typeface="Inter"/>
                <a:ea typeface="Inter"/>
                <a:cs typeface="Inter"/>
              </a:defRPr>
            </a:pPr>
            <a:r>
              <a:t>A source-to-evidence operating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ACB06B-8D9F-4A51-A567-8460620F6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7429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The product is built around one durable inventory spine. Every automation either enriches that spine, asks for review, or produces a client handoff.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6B33CF-0A4B-426E-B8AE-2F7AA4202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714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ED8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AE4DA2-8524-41E2-BB76-91A79AE85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8E5C5"/>
          </a:solidFill>
          <a:ln xmlns:a="http://schemas.openxmlformats.org/drawingml/2006/main" w="9525">
            <a:solidFill>
              <a:srgbClr val="E2BA7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F89D84-897D-4B7C-ADA1-F58E9FE3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67050"/>
            <a:ext cx="400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B76E12"/>
                </a:solidFill>
                <a:latin typeface="Inter"/>
                <a:ea typeface="Inter"/>
                <a:cs typeface="Inter"/>
              </a:defRPr>
            </a:pPr>
            <a: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C7FEB9-D802-4BD7-ADF8-94B5B71D2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13525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01F22"/>
                </a:solidFill>
                <a:latin typeface="Inter"/>
                <a:ea typeface="Inter"/>
                <a:cs typeface="Inter"/>
              </a:defRPr>
            </a:pPr>
            <a:r>
              <a:t>Source governance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A0C493-D657-42C8-9212-AA1993EE7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38600"/>
            <a:ext cx="13525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38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Registry rank, canonical domain, tier, refresh flag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122802-C466-4EF2-9898-1E4DE9E83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54330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E12"/>
          </a:solidFill>
          <a:ln xmlns:a="http://schemas.openxmlformats.org/drawingml/2006/main" w="9525">
            <a:solidFill>
              <a:srgbClr val="B76E1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2D7FD2-3063-4D9D-BD01-7F121CD94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781300"/>
            <a:ext cx="1714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ED8C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F682FD-C00E-4FA7-8228-0A0416EE5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0099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8E5C5"/>
          </a:solidFill>
          <a:ln xmlns:a="http://schemas.openxmlformats.org/drawingml/2006/main" w="9525">
            <a:solidFill>
              <a:srgbClr val="E2BA7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21E106-DCED-4415-9B93-1661106D5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067050"/>
            <a:ext cx="400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B76E12"/>
                </a:solidFill>
                <a:latin typeface="Inter"/>
                <a:ea typeface="Inter"/>
                <a:cs typeface="Inter"/>
              </a:defRPr>
            </a:pPr>
            <a: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925BB6-A3DC-4701-B4E2-A915BF0A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600450"/>
            <a:ext cx="13525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01F22"/>
                </a:solidFill>
                <a:latin typeface="Inter"/>
                <a:ea typeface="Inter"/>
                <a:cs typeface="Inter"/>
              </a:defRPr>
            </a:pPr>
            <a:r>
              <a:t>Discovery engine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C56262-67B6-4AD0-BC88-D57F1BC55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38600"/>
            <a:ext cx="13525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38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Phase 2 ingestion plus Phase 3 constrained agent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FD2165-B7B8-423C-BF11-3C0F6D25C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54330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E12"/>
          </a:solidFill>
          <a:ln xmlns:a="http://schemas.openxmlformats.org/drawingml/2006/main" w="9525">
            <a:solidFill>
              <a:srgbClr val="B76E1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9FA190-CC4D-4FAF-AF55-F9DDF1FA2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781300"/>
            <a:ext cx="1714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ED8C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155E7D-8836-4FC2-99FC-D4E5699F5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099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8E5C5"/>
          </a:solidFill>
          <a:ln xmlns:a="http://schemas.openxmlformats.org/drawingml/2006/main" w="9525">
            <a:solidFill>
              <a:srgbClr val="E2BA7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72D54F-D8E0-4234-B6FB-3BD3A4C04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67050"/>
            <a:ext cx="400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B76E12"/>
                </a:solidFill>
                <a:latin typeface="Inter"/>
                <a:ea typeface="Inter"/>
                <a:cs typeface="Inter"/>
              </a:defRPr>
            </a:pPr>
            <a: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5EFF7E-CFA2-4A37-81A8-48B5573AC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00450"/>
            <a:ext cx="13525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01F22"/>
                </a:solidFill>
                <a:latin typeface="Inter"/>
                <a:ea typeface="Inter"/>
                <a:cs typeface="Inter"/>
              </a:defRPr>
            </a:pPr>
            <a:r>
              <a:t>Review gate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89F3F5-CC4F-4B69-B660-D9633C03D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038600"/>
            <a:ext cx="13525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38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Low-confidence and policy-flagged items wait for human approval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69A3B6-401D-4E1B-B5A5-426AF6490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54330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E12"/>
          </a:solidFill>
          <a:ln xmlns:a="http://schemas.openxmlformats.org/drawingml/2006/main" w="9525">
            <a:solidFill>
              <a:srgbClr val="B76E1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46E65C-074F-4535-AC5E-4F0528E59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781300"/>
            <a:ext cx="1714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ED8C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8F65F7-F528-4CD1-82ED-33174BFE5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099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DF4EC"/>
          </a:solidFill>
          <a:ln xmlns:a="http://schemas.openxmlformats.org/drawingml/2006/main" w="9525">
            <a:solidFill>
              <a:srgbClr val="B9DEC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06B813-01F1-441A-A08A-736CCE9E8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67050"/>
            <a:ext cx="400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1745B"/>
                </a:solidFill>
                <a:latin typeface="Inter"/>
                <a:ea typeface="Inter"/>
                <a:cs typeface="Inter"/>
              </a:defRPr>
            </a:pPr>
            <a: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EC4BCF-90F0-4E0C-9CD8-612D08422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600450"/>
            <a:ext cx="13525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01F22"/>
                </a:solidFill>
                <a:latin typeface="Inter"/>
                <a:ea typeface="Inter"/>
                <a:cs typeface="Inter"/>
              </a:defRPr>
            </a:pPr>
            <a:r>
              <a:t>Inventory spine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A9BC2C-F1DD-4284-B1FD-46AE30361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038600"/>
            <a:ext cx="13525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38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Postgres events table with status, links, source, and added date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653E00-BEFE-41F4-BDFC-F41829A4C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54330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E12"/>
          </a:solidFill>
          <a:ln xmlns:a="http://schemas.openxmlformats.org/drawingml/2006/main" w="9525">
            <a:solidFill>
              <a:srgbClr val="B76E1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63B616-9F3B-4FEF-B855-8E6EF8011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781300"/>
            <a:ext cx="1714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ED8C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A9DFAF-4D8A-4829-88C3-5FDB1EBDB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099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8E5C5"/>
          </a:solidFill>
          <a:ln xmlns:a="http://schemas.openxmlformats.org/drawingml/2006/main" w="9525">
            <a:solidFill>
              <a:srgbClr val="E2BA7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654EFC-C643-42EC-83A8-36B739C74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67050"/>
            <a:ext cx="400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B76E12"/>
                </a:solidFill>
                <a:latin typeface="Inter"/>
                <a:ea typeface="Inter"/>
                <a:cs typeface="Inter"/>
              </a:defRPr>
            </a:pPr>
            <a: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77A0E4C-D666-4DF4-B156-06317E23C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600450"/>
            <a:ext cx="13525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01F22"/>
                </a:solidFill>
                <a:latin typeface="Inter"/>
                <a:ea typeface="Inter"/>
                <a:cs typeface="Inter"/>
              </a:defRPr>
            </a:pPr>
            <a:r>
              <a:t>Client output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EB2B1C-C597-4C46-9EC8-959F4C0C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038600"/>
            <a:ext cx="13525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38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Hybrid recommendations, email log, and evidence JSON export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F45E958-8412-44DE-9781-A640C86E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93345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ECE5D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4A5EF01-E601-4A35-8557-8AC7051C5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162550"/>
            <a:ext cx="1333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B76E12"/>
                </a:solidFill>
                <a:latin typeface="Inter"/>
                <a:ea typeface="Inter"/>
                <a:cs typeface="Inter"/>
              </a:defRPr>
            </a:pPr>
            <a:r>
              <a:t>System promise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0E7B1E9-70E9-4064-8934-45C694F4C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124450"/>
            <a:ext cx="7239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201F22"/>
                </a:solidFill>
                <a:latin typeface="Inter"/>
                <a:ea typeface="Inter"/>
                <a:cs typeface="Inter"/>
              </a:defRPr>
            </a:pPr>
            <a:r>
              <a:t>No opportunity becomes active inventory unless it has a public, client-facing source/apply link and passes the product guardrails.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08E9930-56A9-4B59-A358-BC2627343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9525">
            <a:solidFill>
              <a:srgbClr val="ECE5D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92008D1-3DF4-4CDC-80EE-BB34F930B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2095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8A869A"/>
                </a:solidFill>
                <a:latin typeface="Inter"/>
                <a:ea typeface="Inter"/>
                <a:cs typeface="Inter"/>
              </a:defRPr>
            </a:pPr>
            <a:r>
              <a:t>Discover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BE67446-16B6-460A-8AE2-BB2F1FBF6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8A869A"/>
                </a:solidFill>
                <a:latin typeface="Inter"/>
                <a:ea typeface="Inter"/>
                <a:cs typeface="Inter"/>
              </a:defRPr>
            </a:pPr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563386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104BF9-A8FB-4113-9FD4-803B0992D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B76E12"/>
                </a:solidFill>
                <a:latin typeface="Inter"/>
                <a:ea typeface="Inter"/>
                <a:cs typeface="Inter"/>
              </a:defRPr>
            </a:pPr>
            <a:r>
              <a:t>INVENTORY TRUST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BAB2D4-FF20-4573-BAD0-F34A912F4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78105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201F22"/>
                </a:solidFill>
                <a:latin typeface="Inter"/>
                <a:ea typeface="Inter"/>
                <a:cs typeface="Inter"/>
              </a:defRPr>
            </a:pPr>
            <a:r>
              <a:t>Active inventory now shows real client-action paths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23A1EB-C79C-4465-B0FB-27187B1AD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75247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The source registry remains broad, but active inventory is deliberately narrow: standing opportunities are created only where a client can go to the source site and act.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5A9E6C-778E-411F-B6A7-CDB58F5A1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1619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ED8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E287C3-8222-44ED-9E62-801741ACC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38450"/>
            <a:ext cx="12763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201F22"/>
                </a:solidFill>
                <a:latin typeface="Inter"/>
                <a:ea typeface="Inter"/>
                <a:cs typeface="Inter"/>
              </a:defRPr>
            </a:pPr>
            <a:r>
              <a:t>45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F76F3E-1D91-4DCE-90D7-53C624E5A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14700"/>
            <a:ext cx="1276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Registry rows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B6CF24-8B7C-424D-9568-A4A08F494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43300"/>
            <a:ext cx="1276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8A869A"/>
                </a:solidFill>
                <a:latin typeface="Inter"/>
                <a:ea typeface="Inter"/>
                <a:cs typeface="Inter"/>
              </a:defRPr>
            </a:pPr>
            <a:r>
              <a:t>Master EB-1A source list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17DD9D-BBC9-4E92-927E-0BE03EBEB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21945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E12"/>
          </a:solidFill>
          <a:ln xmlns:a="http://schemas.openxmlformats.org/drawingml/2006/main" w="9525">
            <a:solidFill>
              <a:srgbClr val="B76E1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724FAA-D971-44F0-8862-536CF62A4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28900"/>
            <a:ext cx="1809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ED8C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BED148-4ACD-4E23-A222-652552349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38450"/>
            <a:ext cx="1466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201F22"/>
                </a:solidFill>
                <a:latin typeface="Inter"/>
                <a:ea typeface="Inter"/>
                <a:cs typeface="Inter"/>
              </a:defRPr>
            </a:pPr>
            <a:r>
              <a:t>20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158E93-BCEF-4C60-BF20-9DDCF3670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314700"/>
            <a:ext cx="1466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Standing records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52CDE0-CCBF-4D51-B7B2-6566A3010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543300"/>
            <a:ext cx="1466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8A869A"/>
                </a:solidFill>
                <a:latin typeface="Inter"/>
                <a:ea typeface="Inter"/>
                <a:cs typeface="Inter"/>
              </a:defRPr>
            </a:pPr>
            <a:r>
              <a:t>Inserted as active inventory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E2D464-DD9F-4D50-8D81-A77604C01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21945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E12"/>
          </a:solidFill>
          <a:ln xmlns:a="http://schemas.openxmlformats.org/drawingml/2006/main" w="9525">
            <a:solidFill>
              <a:srgbClr val="B76E1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FDD360-020C-41AD-8E04-BF2B3A31B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628900"/>
            <a:ext cx="1714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ED8C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894CB8-4A94-4246-A0F5-94F443B9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38450"/>
            <a:ext cx="13716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201F22"/>
                </a:solidFill>
                <a:latin typeface="Inter"/>
                <a:ea typeface="Inter"/>
                <a:cs typeface="Inter"/>
              </a:defRPr>
            </a:pPr>
            <a:r>
              <a:t>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9F43CD-6A2D-447B-A6FF-F6FE2FC69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14700"/>
            <a:ext cx="1371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Active fixtures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D7FEB4-634D-424F-90D8-0DAC5FAAA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43300"/>
            <a:ext cx="1371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8A869A"/>
                </a:solidFill>
                <a:latin typeface="Inter"/>
                <a:ea typeface="Inter"/>
                <a:cs typeface="Inter"/>
              </a:defRPr>
            </a:pPr>
            <a:r>
              <a:t>Old demo records archived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8C712C-88BC-4C26-8E20-C27B68881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95550"/>
            <a:ext cx="22860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DDF4EC"/>
          </a:solidFill>
          <a:ln xmlns:a="http://schemas.openxmlformats.org/drawingml/2006/main" w="9525">
            <a:solidFill>
              <a:srgbClr val="B9DEC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40635F-091C-424F-B010-F7C9F5CE5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800350"/>
            <a:ext cx="1809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1745B"/>
                </a:solidFill>
                <a:latin typeface="Inter"/>
                <a:ea typeface="Inter"/>
                <a:cs typeface="Inter"/>
              </a:defRPr>
            </a:pPr>
            <a:r>
              <a:t>Added date visible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554B68-A2B4-43C9-BE66-019CBCE40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43250"/>
            <a:ext cx="18097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013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Inventory rows now expose the date each opportunity was added, so the team can scan freshness without opening details.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2EE8D8-82F2-4956-A420-9F9EC284B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102679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ED8C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4FAF8D-34B9-4E25-975F-B2EB1C12F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38700"/>
            <a:ext cx="1905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B76E12"/>
                </a:solidFill>
                <a:latin typeface="Inter"/>
                <a:ea typeface="Inter"/>
                <a:cs typeface="Inter"/>
              </a:defRPr>
            </a:pPr>
            <a:r>
              <a:t>Example active list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F89C87-3E61-4779-8208-807D26953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81600"/>
            <a:ext cx="2000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201F22"/>
                </a:solidFill>
                <a:latin typeface="Inter"/>
                <a:ea typeface="Inter"/>
                <a:cs typeface="Inter"/>
              </a:defRPr>
            </a:pPr>
            <a:r>
              <a:t>The Conversation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EBCC31-BF07-46BF-B1B4-50752B65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91150"/>
            <a:ext cx="2000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38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Pitch an article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830BA3-70A8-4100-A1D0-8E7B35C56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81650"/>
            <a:ext cx="2000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863" b="0">
                <a:solidFill>
                  <a:srgbClr val="8A869A"/>
                </a:solidFill>
                <a:latin typeface="Inter"/>
                <a:ea typeface="Inter"/>
                <a:cs typeface="Inter"/>
              </a:defRPr>
            </a:pPr>
            <a:r>
              <a:t>Published Material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A8F93E-35AC-4789-B2A7-48876C2FD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181600"/>
            <a:ext cx="2000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201F22"/>
                </a:solidFill>
                <a:latin typeface="Inter"/>
                <a:ea typeface="Inter"/>
                <a:cs typeface="Inter"/>
              </a:defRPr>
            </a:pPr>
            <a:r>
              <a:t>MIT Tech Review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61DD80-D7A9-489E-916B-05115B764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391150"/>
            <a:ext cx="2000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38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Innovators Under 35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0B6F32-8AEE-437B-AEE0-B07585575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581650"/>
            <a:ext cx="2000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863" b="0">
                <a:solidFill>
                  <a:srgbClr val="8A869A"/>
                </a:solidFill>
                <a:latin typeface="Inter"/>
                <a:ea typeface="Inter"/>
                <a:cs typeface="Inter"/>
              </a:defRPr>
            </a:pPr>
            <a:r>
              <a:t>Awards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599E9D-29BC-4F2C-9449-B9371579F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181600"/>
            <a:ext cx="2000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201F22"/>
                </a:solidFill>
                <a:latin typeface="Inter"/>
                <a:ea typeface="Inter"/>
                <a:cs typeface="Inter"/>
              </a:defRPr>
            </a:pPr>
            <a:r>
              <a:t>NIH CSR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1C4012-9BE6-40AD-9161-923C643CC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391150"/>
            <a:ext cx="2000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38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Early Career Reviewer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41461F-A537-4019-9719-3551FC8EE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581650"/>
            <a:ext cx="2000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863" b="0">
                <a:solidFill>
                  <a:srgbClr val="8A869A"/>
                </a:solidFill>
                <a:latin typeface="Inter"/>
                <a:ea typeface="Inter"/>
                <a:cs typeface="Inter"/>
              </a:defRPr>
            </a:pPr>
            <a:r>
              <a:t>Judging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5B1B00-B676-40B3-8D8E-7E0DCC811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181600"/>
            <a:ext cx="2000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201F22"/>
                </a:solidFill>
                <a:latin typeface="Inter"/>
                <a:ea typeface="Inter"/>
                <a:cs typeface="Inter"/>
              </a:defRPr>
            </a:pPr>
            <a:r>
              <a:t>ACM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D1439C-58AB-458F-90B2-0A8C95F8E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391150"/>
            <a:ext cx="2000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38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Senior Member nomination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C89F658-DD94-4AF2-BEF2-0750087FE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581650"/>
            <a:ext cx="2000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863" b="0">
                <a:solidFill>
                  <a:srgbClr val="8A869A"/>
                </a:solidFill>
                <a:latin typeface="Inter"/>
                <a:ea typeface="Inter"/>
                <a:cs typeface="Inter"/>
              </a:defRPr>
            </a:pPr>
            <a:r>
              <a:t>Membership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A3CEC66-993F-46E9-9054-0EE1CF6D4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9525">
            <a:solidFill>
              <a:srgbClr val="ECE5D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D5829DC-1028-4564-9E22-D45CBD75D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2095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8A869A"/>
                </a:solidFill>
                <a:latin typeface="Inter"/>
                <a:ea typeface="Inter"/>
                <a:cs typeface="Inter"/>
              </a:defRPr>
            </a:pPr>
            <a:r>
              <a:t>Discover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0E12352-41D2-484A-9A0F-D27EB1F4F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8A869A"/>
                </a:solidFill>
                <a:latin typeface="Inter"/>
                <a:ea typeface="Inter"/>
                <a:cs typeface="Inter"/>
              </a:defRPr>
            </a:pPr>
            <a: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66722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C6774B-5E62-4BD8-BFA1-FA0FE31D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B76E12"/>
                </a:solidFill>
                <a:latin typeface="Inter"/>
                <a:ea typeface="Inter"/>
                <a:cs typeface="Inter"/>
              </a:defRPr>
            </a:pPr>
            <a:r>
              <a:t>HYBRID MATCHING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97AE71-CAF5-45FA-9DF0-32A548400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0010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201F22"/>
                </a:solidFill>
                <a:latin typeface="Inter"/>
                <a:ea typeface="Inter"/>
                <a:cs typeface="Inter"/>
              </a:defRPr>
            </a:pPr>
            <a:r>
              <a:t>Matching is explainable enough for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18A9FE-97B7-41BC-B9B5-853320E49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75247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Phase 4 keeps deterministic scoring visible, then adds a local semantic signal so related profile language can rank even when exact words differ.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F8D9C5-F6AB-4C44-959C-FCB408A53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51435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ED8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0B902E-5465-444B-99C0-19C508356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81300"/>
            <a:ext cx="2476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201F22"/>
                </a:solidFill>
                <a:latin typeface="Inter"/>
                <a:ea typeface="Inter"/>
                <a:cs typeface="Inter"/>
              </a:defRPr>
            </a:pPr>
            <a:r>
              <a:t>Score components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8B9F85-4B5C-48A0-85F6-88CD1FB7A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57550"/>
            <a:ext cx="1009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013" b="1">
                <a:solidFill>
                  <a:srgbClr val="201F22"/>
                </a:solidFill>
                <a:latin typeface="Inter"/>
                <a:ea typeface="Inter"/>
                <a:cs typeface="Inter"/>
              </a:defRPr>
            </a:pPr>
            <a:r>
              <a:t>Gap fit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D1664A-7E1B-45E2-9926-66504BC06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286125"/>
            <a:ext cx="17907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EDE6"/>
          </a:solidFill>
          <a:ln xmlns:a="http://schemas.openxmlformats.org/drawingml/2006/main" w="9525">
            <a:solidFill>
              <a:srgbClr val="ECE5D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29AF82-070E-4A67-AF17-3FAB44C49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286125"/>
            <a:ext cx="1540002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E5C5"/>
          </a:solidFill>
          <a:ln xmlns:a="http://schemas.openxmlformats.org/drawingml/2006/main" w="9525">
            <a:solidFill>
              <a:srgbClr val="E2BA7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0B8B95-45D9-498C-A822-32B2A6EF4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385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38" b="1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20 pts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1F2E46-1BA3-42DE-A1AD-CCE1C8E1D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238500"/>
            <a:ext cx="1009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788" b="0">
                <a:solidFill>
                  <a:srgbClr val="8A869A"/>
                </a:solidFill>
                <a:latin typeface="Inter"/>
                <a:ea typeface="Inter"/>
                <a:cs typeface="Inter"/>
              </a:defRPr>
            </a:pPr>
            <a:r>
              <a:t>Targets open EB-1A criteria first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41257C-9439-4BC2-9A72-6B7613067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00450"/>
            <a:ext cx="1009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013" b="1">
                <a:solidFill>
                  <a:srgbClr val="201F22"/>
                </a:solidFill>
                <a:latin typeface="Inter"/>
                <a:ea typeface="Inter"/>
                <a:cs typeface="Inter"/>
              </a:defRPr>
            </a:pPr>
            <a:r>
              <a:t>Credibility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384CA1-189D-485D-BFF1-12526EE3D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629025"/>
            <a:ext cx="17907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EDE6"/>
          </a:solidFill>
          <a:ln xmlns:a="http://schemas.openxmlformats.org/drawingml/2006/main" w="9525">
            <a:solidFill>
              <a:srgbClr val="ECE5D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4CA3F6-A6EB-4898-9211-287EEB1F8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629025"/>
            <a:ext cx="1396746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E5C5"/>
          </a:solidFill>
          <a:ln xmlns:a="http://schemas.openxmlformats.org/drawingml/2006/main" w="9525">
            <a:solidFill>
              <a:srgbClr val="E2BA7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6B4EDB-A5A5-4B46-A34A-F9D33697A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814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38" b="1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20 pts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017989-67F3-480C-925B-403427360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581400"/>
            <a:ext cx="1009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788" b="0">
                <a:solidFill>
                  <a:srgbClr val="8A869A"/>
                </a:solidFill>
                <a:latin typeface="Inter"/>
                <a:ea typeface="Inter"/>
                <a:cs typeface="Inter"/>
              </a:defRPr>
            </a:pPr>
            <a:r>
              <a:t>Rewards higher-trust sources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5BB302-CE01-40A5-92A9-DD5F85782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43350"/>
            <a:ext cx="1009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013" b="1">
                <a:solidFill>
                  <a:srgbClr val="201F22"/>
                </a:solidFill>
                <a:latin typeface="Inter"/>
                <a:ea typeface="Inter"/>
                <a:cs typeface="Inter"/>
              </a:defRPr>
            </a:pPr>
            <a:r>
              <a:t>Keyword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582111-0326-4279-8A94-11ADF397D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971925"/>
            <a:ext cx="17907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EDE6"/>
          </a:solidFill>
          <a:ln xmlns:a="http://schemas.openxmlformats.org/drawingml/2006/main" w="9525">
            <a:solidFill>
              <a:srgbClr val="ECE5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E09671-1E40-4D4A-9A2C-C04DE86AE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971925"/>
            <a:ext cx="1289304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E5C5"/>
          </a:solidFill>
          <a:ln xmlns:a="http://schemas.openxmlformats.org/drawingml/2006/main" w="9525">
            <a:solidFill>
              <a:srgbClr val="E2BA7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C355B6-FB99-4C60-9224-21FE678BD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9243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38" b="1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14 pts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5A5D54-9AE0-4893-AE65-CD5A9E982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924300"/>
            <a:ext cx="1009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788" b="0">
                <a:solidFill>
                  <a:srgbClr val="8A869A"/>
                </a:solidFill>
                <a:latin typeface="Inter"/>
                <a:ea typeface="Inter"/>
                <a:cs typeface="Inter"/>
              </a:defRPr>
            </a:pPr>
            <a:r>
              <a:t>Finds exact profile language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FC4C80-9CAA-4D59-A368-C318E9BB8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86250"/>
            <a:ext cx="1009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013" b="1">
                <a:solidFill>
                  <a:srgbClr val="201F22"/>
                </a:solidFill>
                <a:latin typeface="Inter"/>
                <a:ea typeface="Inter"/>
                <a:cs typeface="Inter"/>
              </a:defRPr>
            </a:pPr>
            <a:r>
              <a:t>Semantic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92BB59-A787-4F54-A213-4F817ABA5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314825"/>
            <a:ext cx="17907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EDE6"/>
          </a:solidFill>
          <a:ln xmlns:a="http://schemas.openxmlformats.org/drawingml/2006/main" w="9525">
            <a:solidFill>
              <a:srgbClr val="ECE5D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D559FF-4A7C-45AB-824B-A0B174228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314825"/>
            <a:ext cx="1217676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4EC"/>
          </a:solidFill>
          <a:ln xmlns:a="http://schemas.openxmlformats.org/drawingml/2006/main" w="9525">
            <a:solidFill>
              <a:srgbClr val="B9DEC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D08591-4EA1-43D0-974D-8D836584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672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38" b="1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14 pts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1938B4-9186-4B7A-A875-2AC7ADF2B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267200"/>
            <a:ext cx="1009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788" b="0">
                <a:solidFill>
                  <a:srgbClr val="8A869A"/>
                </a:solidFill>
                <a:latin typeface="Inter"/>
                <a:ea typeface="Inter"/>
                <a:cs typeface="Inter"/>
              </a:defRPr>
            </a:pPr>
            <a:r>
              <a:t>Local similarity across field and summary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83E39A-A914-4066-AC0E-AC27B9F31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29150"/>
            <a:ext cx="1009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013" b="1">
                <a:solidFill>
                  <a:srgbClr val="201F22"/>
                </a:solidFill>
                <a:latin typeface="Inter"/>
                <a:ea typeface="Inter"/>
                <a:cs typeface="Inter"/>
              </a:defRPr>
            </a:pPr>
            <a:r>
              <a:t>Actionability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326030-E731-42FF-BB1F-7D46138CF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657725"/>
            <a:ext cx="17907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EDE6"/>
          </a:solidFill>
          <a:ln xmlns:a="http://schemas.openxmlformats.org/drawingml/2006/main" w="9525">
            <a:solidFill>
              <a:srgbClr val="ECE5D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7E6691-597E-4391-8B5F-E702D3CC5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657725"/>
            <a:ext cx="143256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E5C5"/>
          </a:solidFill>
          <a:ln xmlns:a="http://schemas.openxmlformats.org/drawingml/2006/main" w="9525">
            <a:solidFill>
              <a:srgbClr val="E2BA7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751AD7-542E-42A7-B5C8-5DCC194B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6101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38" b="1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12 pts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692D7D-4EA9-4590-8CC5-9AA33E8D5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610100"/>
            <a:ext cx="1009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788" b="0">
                <a:solidFill>
                  <a:srgbClr val="8A869A"/>
                </a:solidFill>
                <a:latin typeface="Inter"/>
                <a:ea typeface="Inter"/>
                <a:cs typeface="Inter"/>
              </a:defRPr>
            </a:pPr>
            <a:r>
              <a:t>Prefers clear apply or submit paths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3DD197-0D69-4042-A699-DEBFACC1D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72050"/>
            <a:ext cx="1009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013" b="1">
                <a:solidFill>
                  <a:srgbClr val="201F22"/>
                </a:solidFill>
                <a:latin typeface="Inter"/>
                <a:ea typeface="Inter"/>
                <a:cs typeface="Inter"/>
              </a:defRPr>
            </a:pPr>
            <a:r>
              <a:t>Location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35DEC22-899A-4DAF-B733-A04C151E9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000625"/>
            <a:ext cx="17907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EDE6"/>
          </a:solidFill>
          <a:ln xmlns:a="http://schemas.openxmlformats.org/drawingml/2006/main" w="9525">
            <a:solidFill>
              <a:srgbClr val="ECE5D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07A6F6E-9928-402B-8A50-7348E2A26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000625"/>
            <a:ext cx="98488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E5C5"/>
          </a:solidFill>
          <a:ln xmlns:a="http://schemas.openxmlformats.org/drawingml/2006/main" w="9525">
            <a:solidFill>
              <a:srgbClr val="E2BA7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710ED65-5FEB-40B6-B79C-FB80EDDE9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9530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38" b="1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8 pts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85B7142-06AD-4454-B28F-3F2802D73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953000"/>
            <a:ext cx="1009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788" b="0">
                <a:solidFill>
                  <a:srgbClr val="8A869A"/>
                </a:solidFill>
                <a:latin typeface="Inter"/>
                <a:ea typeface="Inter"/>
                <a:cs typeface="Inter"/>
              </a:defRPr>
            </a:pPr>
            <a:r>
              <a:t>Remote, national, or regional fit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EF0962E-66DD-45DC-A93E-B052A0E96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14600"/>
            <a:ext cx="455295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ED8C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DCDD789-B3F2-488D-9836-8825A164E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81300"/>
            <a:ext cx="2476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201F22"/>
                </a:solidFill>
                <a:latin typeface="Inter"/>
                <a:ea typeface="Inter"/>
                <a:cs typeface="Inter"/>
              </a:defRPr>
            </a:pPr>
            <a:r>
              <a:t>Sample ranked match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F2FA028-6370-4246-BA18-E611C6337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62300"/>
            <a:ext cx="2095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01F22"/>
                </a:solidFill>
                <a:latin typeface="Inter"/>
                <a:ea typeface="Inter"/>
                <a:cs typeface="Inter"/>
              </a:defRPr>
            </a:pPr>
            <a:r>
              <a:t>Anika Rao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9C2C6EB-A4BD-4B5E-B9F6-81D1CB4DA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29000"/>
            <a:ext cx="2571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013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Artificial intelligence - United States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6503711-EDA0-436E-AC72-3D3F0FB02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48100"/>
            <a:ext cx="3714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ECE5D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F1D0810-2441-4B42-A8A6-851CFCC2E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038600"/>
            <a:ext cx="2266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01F22"/>
                </a:solidFill>
                <a:latin typeface="Inter"/>
                <a:ea typeface="Inter"/>
                <a:cs typeface="Inter"/>
              </a:defRPr>
            </a:pPr>
            <a:r>
              <a:t>Research Leadership Profile Series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B064D8D-EFD6-4E32-921D-493982F04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286250"/>
            <a:ext cx="2667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38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Published Material - AI safety, research, public impact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F12240B-8AAF-4C82-BB69-E4EFE17AA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000500"/>
            <a:ext cx="6477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DF4EC"/>
          </a:solidFill>
          <a:ln xmlns:a="http://schemas.openxmlformats.org/drawingml/2006/main" w="9525">
            <a:solidFill>
              <a:srgbClr val="B9DEC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0F29E0F-151D-4978-AA27-1187E0F39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067175"/>
            <a:ext cx="647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1745B"/>
                </a:solidFill>
                <a:latin typeface="Inter"/>
                <a:ea typeface="Inter"/>
                <a:cs typeface="Inter"/>
              </a:defRPr>
            </a:pPr>
            <a:r>
              <a:t>69.6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B4FA533-A35B-4BD4-BFF0-103042434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914900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9525">
            <a:solidFill>
              <a:srgbClr val="ECE5D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52491DA-B6C5-45B6-A64F-8B4476940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105400"/>
            <a:ext cx="114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38" b="1">
                <a:solidFill>
                  <a:srgbClr val="B76E12"/>
                </a:solidFill>
                <a:latin typeface="Inter"/>
                <a:ea typeface="Inter"/>
                <a:cs typeface="Inter"/>
              </a:defRPr>
            </a:pPr>
            <a:r>
              <a:t>Why it ranked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E8603C1-466F-4457-8038-68123176F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067300"/>
            <a:ext cx="2324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38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Open criteria gap, high source trust, strong semantic overlap, and a client-action source link.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94BCFF9-D420-47F0-A99D-DB607312A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9525">
            <a:solidFill>
              <a:srgbClr val="ECE5D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51D1ACC-6C1D-4341-8F98-7FAB468FB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2095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8A869A"/>
                </a:solidFill>
                <a:latin typeface="Inter"/>
                <a:ea typeface="Inter"/>
                <a:cs typeface="Inter"/>
              </a:defRPr>
            </a:pPr>
            <a:r>
              <a:t>Discover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345B9DE-45C5-427A-9E21-ABEB9EA52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8A869A"/>
                </a:solidFill>
                <a:latin typeface="Inter"/>
                <a:ea typeface="Inter"/>
                <a:cs typeface="Inter"/>
              </a:defRPr>
            </a:pPr>
            <a: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896344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A2EEA6-B442-4646-B48C-202AA552F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B76E12"/>
                </a:solidFill>
                <a:latin typeface="Inter"/>
                <a:ea typeface="Inter"/>
                <a:cs typeface="Inter"/>
              </a:defRPr>
            </a:pPr>
            <a:r>
              <a:t>PHASE 4 WORKSPACE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000E3F-BE9A-49E6-8145-5866A8BC9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78105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201F22"/>
                </a:solidFill>
                <a:latin typeface="Inter"/>
                <a:ea typeface="Inter"/>
                <a:cs typeface="Inter"/>
              </a:defRPr>
            </a:pPr>
            <a:r>
              <a:t>Phase 4 turns discovery into client-ready intelligence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8FF3A6-00B0-430A-981F-625A42408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7429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The admin can preview what a client should see, export evidence packets, and expand the source registry from demand-aware proposals.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0BED90-204B-43D6-B939-E1AE88631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409575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ED8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8E194D-6ACC-4E59-ABBA-C4DACD84C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146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8E5C5"/>
          </a:solidFill>
          <a:ln xmlns:a="http://schemas.openxmlformats.org/drawingml/2006/main" w="9525">
            <a:solidFill>
              <a:srgbClr val="E2BA7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8DECD7-7FBC-45FD-8248-0B07B72EE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71800"/>
            <a:ext cx="323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B76E12"/>
                </a:solidFill>
                <a:latin typeface="Inter"/>
                <a:ea typeface="Inter"/>
                <a:cs typeface="Inter"/>
              </a:defRPr>
            </a:pPr>
            <a: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A2F0EE-6373-455D-B015-D548B266F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14650"/>
            <a:ext cx="2476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201F22"/>
                </a:solidFill>
                <a:latin typeface="Inter"/>
                <a:ea typeface="Inter"/>
                <a:cs typeface="Inter"/>
              </a:defRPr>
            </a:pPr>
            <a:r>
              <a:t>Client portal preview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7EF4FB-8E31-4062-AD7C-AEB1E9662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162300"/>
            <a:ext cx="2762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38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Coverage, gaps, next best action, and ranked recommendations.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774426-5543-4877-97F7-DC7BB7E5E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195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DF4EC"/>
          </a:solidFill>
          <a:ln xmlns:a="http://schemas.openxmlformats.org/drawingml/2006/main" w="9525">
            <a:solidFill>
              <a:srgbClr val="B9DEC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70CF70-96F8-4053-AA2A-FE3E8EAE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76650"/>
            <a:ext cx="323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1745B"/>
                </a:solidFill>
                <a:latin typeface="Inter"/>
                <a:ea typeface="Inter"/>
                <a:cs typeface="Inter"/>
              </a:defRPr>
            </a:pPr>
            <a: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5D2A9D-3501-4331-9B3E-1C4BA3EE4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19500"/>
            <a:ext cx="2476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201F22"/>
                </a:solidFill>
                <a:latin typeface="Inter"/>
                <a:ea typeface="Inter"/>
                <a:cs typeface="Inter"/>
              </a:defRPr>
            </a:pPr>
            <a:r>
              <a:t>Evidence export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0EA7C1-5739-49D3-A03D-EF12E0CFA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67150"/>
            <a:ext cx="2762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38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JSON evidence packet with source, apply link, criteria, and score evidence.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04F01D-72D7-44A5-9790-BC37B98C5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243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8E5C5"/>
          </a:solidFill>
          <a:ln xmlns:a="http://schemas.openxmlformats.org/drawingml/2006/main" w="9525">
            <a:solidFill>
              <a:srgbClr val="E2BA7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DBCE8B-3163-4162-9A8A-3B917859E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81500"/>
            <a:ext cx="323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B76E12"/>
                </a:solidFill>
                <a:latin typeface="Inter"/>
                <a:ea typeface="Inter"/>
                <a:cs typeface="Inter"/>
              </a:defRPr>
            </a:pPr>
            <a: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3DA138-917E-4DBE-9799-29C3266E6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324350"/>
            <a:ext cx="2476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201F22"/>
                </a:solidFill>
                <a:latin typeface="Inter"/>
                <a:ea typeface="Inter"/>
                <a:cs typeface="Inter"/>
              </a:defRPr>
            </a:pPr>
            <a:r>
              <a:t>Curator proposals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1ECAD7-94F7-46EA-BE48-A75178EC7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572000"/>
            <a:ext cx="2762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38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New source ideas scored by client demand and inventory gaps.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A42A8E-F444-4DF4-8C20-01F1FC7CC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66950"/>
            <a:ext cx="5695950" cy="327660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ED8C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E27B19-5FCE-45C7-973F-BE60A3B9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334000"/>
            <a:ext cx="3429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863" b="0">
                <a:solidFill>
                  <a:srgbClr val="8A869A"/>
                </a:solidFill>
                <a:latin typeface="Inter"/>
                <a:ea typeface="Inter"/>
                <a:cs typeface="Inter"/>
              </a:defRPr>
            </a:pPr>
            <a:r>
              <a:t>Local QA render of the Phase 4 tab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628775-73B4-4E19-811C-B9DF18A17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9525">
            <a:solidFill>
              <a:srgbClr val="ECE5D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30CED5-F3CA-45AA-B32F-65A5C657F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2095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8A869A"/>
                </a:solidFill>
                <a:latin typeface="Inter"/>
                <a:ea typeface="Inter"/>
                <a:cs typeface="Inter"/>
              </a:defRPr>
            </a:pPr>
            <a:r>
              <a:t>Discover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266093-16BD-4C20-9CC7-DD92E8F31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8A869A"/>
                </a:solidFill>
                <a:latin typeface="Inter"/>
                <a:ea typeface="Inter"/>
                <a:cs typeface="Inter"/>
              </a:defRPr>
            </a:pPr>
            <a:r>
              <a:t>05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9d739ed4294f35"/>
          <a:srcRect xmlns:a="http://schemas.openxmlformats.org/drawingml/2006/main" l="0" t="1074" r="0" b="10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10200" y="2419350"/>
            <a:ext cx="5391150" cy="2857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1590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F08C38-081B-4FEF-B303-72DAFFAF7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B76E12"/>
                </a:solidFill>
                <a:latin typeface="Inter"/>
                <a:ea typeface="Inter"/>
                <a:cs typeface="Inter"/>
              </a:defRPr>
            </a:pPr>
            <a:r>
              <a:t>GOVERNANCE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B59431-16F0-46AF-B63D-0BC8E084D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790575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201F22"/>
                </a:solidFill>
                <a:latin typeface="Inter"/>
                <a:ea typeface="Inter"/>
                <a:cs typeface="Inter"/>
              </a:defRPr>
            </a:pPr>
            <a:r>
              <a:t>AI assists the workflow, humans keep the controls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E25066-0657-46F3-9E66-9DB3E9E79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7715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The product uses local deterministic logic by default and optional OpenAI extraction when configured. It does not approve records, send emails, or bypass domain guardrails.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0AA137-B526-416D-8AD5-062306950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4476750" cy="2800350"/>
          </a:xfrm>
          <a:prstGeom xmlns:a="http://schemas.openxmlformats.org/drawingml/2006/main" prst="roundRect">
            <a:avLst>
              <a:gd name="adj" fmla="val 272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ED8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3D029F-69AE-442D-A0D5-285BAEE2F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686050"/>
            <a:ext cx="4476750" cy="2800350"/>
          </a:xfrm>
          <a:prstGeom xmlns:a="http://schemas.openxmlformats.org/drawingml/2006/main" prst="roundRect">
            <a:avLst>
              <a:gd name="adj" fmla="val 272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ED8C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D8B8EF-7375-4151-AB9D-9E822D015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90850"/>
            <a:ext cx="2381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201F22"/>
                </a:solidFill>
                <a:latin typeface="Inter"/>
                <a:ea typeface="Inter"/>
                <a:cs typeface="Inter"/>
              </a:defRPr>
            </a:pPr>
            <a:r>
              <a:t>Automation assists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323848-59F0-4E13-B04F-12402282F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90850"/>
            <a:ext cx="2381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201F22"/>
                </a:solidFill>
                <a:latin typeface="Inter"/>
                <a:ea typeface="Inter"/>
                <a:cs typeface="Inter"/>
              </a:defRPr>
            </a:pPr>
            <a:r>
              <a:t>Human controls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707CDA-1A8E-4CFA-BF69-C9B8C56E3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24250"/>
            <a:ext cx="171450" cy="17145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F8E5C5"/>
          </a:solidFill>
          <a:ln xmlns:a="http://schemas.openxmlformats.org/drawingml/2006/main" w="9525">
            <a:solidFill>
              <a:srgbClr val="E2BA7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E53BEF-4FDB-4CE8-9924-C8592E59A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05200"/>
            <a:ext cx="3238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Detect source-page changes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0FCE51-8814-4ED5-A3F6-D98BF605F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48100"/>
            <a:ext cx="171450" cy="17145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F8E5C5"/>
          </a:solidFill>
          <a:ln xmlns:a="http://schemas.openxmlformats.org/drawingml/2006/main" w="9525">
            <a:solidFill>
              <a:srgbClr val="E2BA7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D0998D-88D4-4A3A-A3B6-8C2976394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29050"/>
            <a:ext cx="3238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Extract candidate opportunity records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C87E3C-1E7D-4253-A419-ACC5C8964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71950"/>
            <a:ext cx="171450" cy="17145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F8E5C5"/>
          </a:solidFill>
          <a:ln xmlns:a="http://schemas.openxmlformats.org/drawingml/2006/main" w="9525">
            <a:solidFill>
              <a:srgbClr val="E2BA7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7E4421-0674-4F2D-AD8B-9FFA3FA6D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52900"/>
            <a:ext cx="3238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Score client/opportunity matches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C207FE-AA6F-44E6-92A9-C4F9A0C39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95800"/>
            <a:ext cx="171450" cy="17145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F8E5C5"/>
          </a:solidFill>
          <a:ln xmlns:a="http://schemas.openxmlformats.org/drawingml/2006/main" w="9525">
            <a:solidFill>
              <a:srgbClr val="E2BA7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224DEC-93C9-4F61-85B7-33B899808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76750"/>
            <a:ext cx="3238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Recommend source additions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1CB4E6-F20E-4E48-B490-BE6F14CD2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19650"/>
            <a:ext cx="171450" cy="17145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F8E5C5"/>
          </a:solidFill>
          <a:ln xmlns:a="http://schemas.openxmlformats.org/drawingml/2006/main" w="9525">
            <a:solidFill>
              <a:srgbClr val="E2BA7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A6F213-71D8-4517-86F2-E525FA7E1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00600"/>
            <a:ext cx="3238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Build evidence export packets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3D7811-6C5A-43B9-994B-8299DF0DF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171450" cy="17145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DDF4EC"/>
          </a:solidFill>
          <a:ln xmlns:a="http://schemas.openxmlformats.org/drawingml/2006/main" w="9525">
            <a:solidFill>
              <a:srgbClr val="B9DEC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C8BF4D-07FE-414B-9F3B-AE332E90A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05200"/>
            <a:ext cx="3238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Maintain trusted source registry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3A8FE5-0FCC-4C68-B481-3994BE52A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848100"/>
            <a:ext cx="171450" cy="17145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DDF4EC"/>
          </a:solidFill>
          <a:ln xmlns:a="http://schemas.openxmlformats.org/drawingml/2006/main" w="9525">
            <a:solidFill>
              <a:srgbClr val="B9DEC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DB7806-6DB2-46CB-950F-8399CD994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29050"/>
            <a:ext cx="3238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Approve or reject review items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86F6C8-CD77-4ABC-8498-F23B78715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171950"/>
            <a:ext cx="171450" cy="17145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DDF4EC"/>
          </a:solidFill>
          <a:ln xmlns:a="http://schemas.openxmlformats.org/drawingml/2006/main" w="9525">
            <a:solidFill>
              <a:srgbClr val="B9DEC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B4C9A6-C7F2-45DD-B734-A5555D43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52900"/>
            <a:ext cx="3238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Confirm client communications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EEB368-B92E-47B3-8BBA-CE4994F20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495800"/>
            <a:ext cx="171450" cy="17145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DDF4EC"/>
          </a:solidFill>
          <a:ln xmlns:a="http://schemas.openxmlformats.org/drawingml/2006/main" w="9525">
            <a:solidFill>
              <a:srgbClr val="B9DEC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508103-7435-4E8B-A74A-85B9F7C5B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76750"/>
            <a:ext cx="3238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Accept curator proposals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4AB59D-4D9B-4C2E-9A1D-B9990C2C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19650"/>
            <a:ext cx="171450" cy="17145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DDF4EC"/>
          </a:solidFill>
          <a:ln xmlns:a="http://schemas.openxmlformats.org/drawingml/2006/main" w="9525">
            <a:solidFill>
              <a:srgbClr val="B9DEC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6A3094-AB7C-4891-81A2-B98E1636D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00600"/>
            <a:ext cx="3238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Use final evidence in petitions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05C9FE-54C0-4F04-9F72-4A80237D3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43250"/>
            <a:ext cx="1905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CC"/>
          </a:solidFill>
          <a:ln xmlns:a="http://schemas.openxmlformats.org/drawingml/2006/main" w="9525">
            <a:solidFill>
              <a:srgbClr val="DED8C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012C64-0F54-425A-9A86-7266CBDDF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810250"/>
            <a:ext cx="59055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ECE5D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3B400F-D467-43A0-9468-779BB8D93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895975"/>
            <a:ext cx="5257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088" b="1">
                <a:solidFill>
                  <a:srgbClr val="B76E12"/>
                </a:solidFill>
                <a:latin typeface="Inter"/>
                <a:ea typeface="Inter"/>
                <a:cs typeface="Inter"/>
              </a:defRPr>
            </a:pPr>
            <a:r>
              <a:t>Guardrail: broad pages and missing client links stay out of active inventory.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B6D3E7-6AFA-486F-8B48-2F203A3C7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9525">
            <a:solidFill>
              <a:srgbClr val="ECE5D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708EF6-1200-41A9-98CB-2915B430E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2095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8A869A"/>
                </a:solidFill>
                <a:latin typeface="Inter"/>
                <a:ea typeface="Inter"/>
                <a:cs typeface="Inter"/>
              </a:defRPr>
            </a:pPr>
            <a:r>
              <a:t>Discover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FB88B64-DF19-4CF0-9F83-1936CEC9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8A869A"/>
                </a:solidFill>
                <a:latin typeface="Inter"/>
                <a:ea typeface="Inter"/>
                <a:cs typeface="Inter"/>
              </a:defRPr>
            </a:pPr>
            <a: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658027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50EC0F-798D-422D-B848-D60C6A959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B76E12"/>
                </a:solidFill>
                <a:latin typeface="Inter"/>
                <a:ea typeface="Inter"/>
                <a:cs typeface="Inter"/>
              </a:defRPr>
            </a:pPr>
            <a:r>
              <a:t>LOCAL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ED34F1-CCCD-4C93-9AC2-A7778356E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78105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201F22"/>
                </a:solidFill>
                <a:latin typeface="Inter"/>
                <a:ea typeface="Inter"/>
                <a:cs typeface="Inter"/>
              </a:defRPr>
            </a:pPr>
            <a:r>
              <a:t>Postgres-backed and inspectable on localhost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20EE3E-82DA-4446-93EF-2308BF258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7810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The product is intentionally simple to run locally: Next.js serves the portal and APIs, repository functions centralize writes, and Postgres holds the durable operating record.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94F97E-1F60-4C11-A087-BEA94EAEF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2000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ED8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F8DFF1-2AC3-4B40-9669-057B87E94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14650"/>
            <a:ext cx="152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01F22"/>
                </a:solidFill>
                <a:latin typeface="Inter"/>
                <a:ea typeface="Inter"/>
                <a:cs typeface="Inter"/>
              </a:defRPr>
            </a:pPr>
            <a:r>
              <a:t>Next.js portal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8A9563-5BAD-4381-BC0A-75196B5A4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81350"/>
            <a:ext cx="152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863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Admin UI, Phase 4 tab, inventory list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C6F7EE-F624-4CED-8C46-E2D97E9BA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14675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E12"/>
          </a:solidFill>
          <a:ln xmlns:a="http://schemas.openxmlformats.org/drawingml/2006/main" w="9525">
            <a:solidFill>
              <a:srgbClr val="B76E1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37DA45-A474-42F1-9804-E72E688E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95550"/>
            <a:ext cx="22479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ED8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4591E0-5DDD-4996-A72B-3D8188160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743200"/>
            <a:ext cx="1676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01F22"/>
                </a:solidFill>
                <a:latin typeface="Inter"/>
                <a:ea typeface="Inter"/>
                <a:cs typeface="Inter"/>
              </a:defRPr>
            </a:pPr>
            <a:r>
              <a:t>API routes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1DCDB2-BA77-416E-9DAF-BCC4DC7E6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048000"/>
            <a:ext cx="1714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735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/api/state - Dashboard data spine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D8B833-4D94-42F6-B230-352CFCAD8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200400"/>
            <a:ext cx="1714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735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/api/events - Inventory CRUD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6CDFA7-E135-40AA-9867-5ACDC97A4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352800"/>
            <a:ext cx="1714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735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/api/matches - Rank and log recommendations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D99EA5-C579-463D-883D-1163C208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505200"/>
            <a:ext cx="1714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735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/api/phase4 - Client preview and curator proposals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0156D3-0F72-41AA-9034-29AAB019C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657600"/>
            <a:ext cx="1714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735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/api/exports/evidence - Discover evidence packet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817A34-58E6-4F84-97F1-2BA194748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114675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E12"/>
          </a:solidFill>
          <a:ln xmlns:a="http://schemas.openxmlformats.org/drawingml/2006/main" w="9525">
            <a:solidFill>
              <a:srgbClr val="B76E1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084B2A-689F-4602-84B3-C3628A5E6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86050"/>
            <a:ext cx="2000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DF4EC"/>
          </a:solidFill>
          <a:ln xmlns:a="http://schemas.openxmlformats.org/drawingml/2006/main" w="9525">
            <a:solidFill>
              <a:srgbClr val="B9DEC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E023BF-E2BF-4F17-8981-08A05670E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14650"/>
            <a:ext cx="152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1745B"/>
                </a:solidFill>
                <a:latin typeface="Inter"/>
                <a:ea typeface="Inter"/>
                <a:cs typeface="Inter"/>
              </a:defRPr>
            </a:pPr>
            <a:r>
              <a:t>Repository layer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2BBF11-D5BA-41B9-BB26-3117C80D1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181350"/>
            <a:ext cx="152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863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Guarded writes, status derivation, match logs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B20D81-87D1-4BF9-80BF-8486A715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14675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E12"/>
          </a:solidFill>
          <a:ln xmlns:a="http://schemas.openxmlformats.org/drawingml/2006/main" w="9525">
            <a:solidFill>
              <a:srgbClr val="B76E1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CB802F-360A-4E00-869D-D9B493056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686050"/>
            <a:ext cx="16573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ED8C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8F68DF-E93D-4C9D-A8D1-609915CD6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914650"/>
            <a:ext cx="1200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01F22"/>
                </a:solidFill>
                <a:latin typeface="Inter"/>
                <a:ea typeface="Inter"/>
                <a:cs typeface="Inter"/>
              </a:defRPr>
            </a:pPr>
            <a:r>
              <a:t>PostgreSQL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7C42BB-0E17-4A52-8F71-D85B89A4E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181350"/>
            <a:ext cx="114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863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events, sources, clients, runs, review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17B972-E285-48E1-8075-FE262C298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81500"/>
            <a:ext cx="3619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ECE5D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673A2A-CE31-4C6D-8925-510159C7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629150"/>
            <a:ext cx="152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201F22"/>
                </a:solidFill>
                <a:latin typeface="Inter"/>
                <a:ea typeface="Inter"/>
                <a:cs typeface="Inter"/>
              </a:defRPr>
            </a:pPr>
            <a:r>
              <a:t>Worker scripts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15D60C-40CA-40C1-A518-BCD942D50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914900"/>
            <a:ext cx="2857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38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phase2:run, phase2:schedule, phase3:run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A84A7D-F345-44E6-ACCD-B882F6EE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81500"/>
            <a:ext cx="3619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ECE5D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F944CC-98CE-4FDC-8E6D-399EDD3F5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629150"/>
            <a:ext cx="1619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201F22"/>
                </a:solidFill>
                <a:latin typeface="Inter"/>
                <a:ea typeface="Inter"/>
                <a:cs typeface="Inter"/>
              </a:defRPr>
            </a:pPr>
            <a:r>
              <a:t>Optional OpenAI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CD8931-A3C2-4DC0-95A7-ECD123829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914900"/>
            <a:ext cx="2857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38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Used only for extraction escalation when configured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C61A22-A6B0-49B7-A228-97E6F5002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9525">
            <a:solidFill>
              <a:srgbClr val="ECE5D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DB2660-5496-43D9-A395-C45D93779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2095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8A869A"/>
                </a:solidFill>
                <a:latin typeface="Inter"/>
                <a:ea typeface="Inter"/>
                <a:cs typeface="Inter"/>
              </a:defRPr>
            </a:pPr>
            <a:r>
              <a:t>Discover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660F74-71D1-408F-AF42-6081F21A8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8A869A"/>
                </a:solidFill>
                <a:latin typeface="Inter"/>
                <a:ea typeface="Inter"/>
                <a:cs typeface="Inter"/>
              </a:defRPr>
            </a:pPr>
            <a: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980860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0A101A-4E4F-4644-A4CC-9DB712505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B76E12"/>
                </a:solidFill>
                <a:latin typeface="Inter"/>
                <a:ea typeface="Inter"/>
                <a:cs typeface="Inter"/>
              </a:defRPr>
            </a:pPr>
            <a:r>
              <a:t>REVIEW AND HANDOFF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07281D-911A-4AB7-8DCB-71DA9852D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72390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201F22"/>
                </a:solidFill>
                <a:latin typeface="Inter"/>
                <a:ea typeface="Inter"/>
                <a:cs typeface="Inter"/>
              </a:defRPr>
            </a:pPr>
            <a:r>
              <a:t>Ready for Phase 4 review and signoff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35C36A-59F6-447E-AF70-CFD2CAF2D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7239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The product is now a local Discover operating system with documentation, technical architecture, and a review deck included in the repository.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731B79-8CA3-4D68-9B9B-2E28525FD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4648200" cy="2914650"/>
          </a:xfrm>
          <a:prstGeom xmlns:a="http://schemas.openxmlformats.org/drawingml/2006/main" prst="roundRect">
            <a:avLst>
              <a:gd name="adj" fmla="val 261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ED8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5F8737-28EF-4392-B05D-C8093FDD8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628900"/>
            <a:ext cx="4648200" cy="2914650"/>
          </a:xfrm>
          <a:prstGeom xmlns:a="http://schemas.openxmlformats.org/drawingml/2006/main" prst="roundRect">
            <a:avLst>
              <a:gd name="adj" fmla="val 261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ED8C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DF1730-805B-4B5A-9060-AC622F0AC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14650"/>
            <a:ext cx="3143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201F22"/>
                </a:solidFill>
                <a:latin typeface="Inter"/>
                <a:ea typeface="Inter"/>
                <a:cs typeface="Inter"/>
              </a:defRPr>
            </a:pPr>
            <a:r>
              <a:t>What the product can 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ADB88D-B1FF-4F81-9A7D-E24BCE436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14650"/>
            <a:ext cx="2476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201F22"/>
                </a:solidFill>
                <a:latin typeface="Inter"/>
                <a:ea typeface="Inter"/>
                <a:cs typeface="Inter"/>
              </a:defRPr>
            </a:pPr>
            <a:r>
              <a:t>Review checklist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B5661E-1EA4-4420-9271-E96689AF8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52800"/>
            <a:ext cx="3790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90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- Maintain clients and opportunity inventory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F22A15-BAD4-4363-B1C9-6AE714B94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90925"/>
            <a:ext cx="3790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90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- Import 45 canonical EB-1A sources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37F6BA-8662-4FD2-83D7-11C54EA55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29050"/>
            <a:ext cx="3790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90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- Refresh guarded source pages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D83459-A927-4460-B130-1C160134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67175"/>
            <a:ext cx="3790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90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- Run constrained Phase 3 discovery agent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FB9581-D0B0-42A0-95A9-1AFF0CD22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05300"/>
            <a:ext cx="3790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90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- Review uncertain candidates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475CCF-7257-4EE8-A948-78A64523C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43425"/>
            <a:ext cx="3790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90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- Rank matches with semantic signal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0268C4-C720-4CA0-9718-EDF0EB232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781550"/>
            <a:ext cx="3790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90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- Send or simulate recommendation emails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5A1823-1C7D-4386-B501-54A8A77D6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19675"/>
            <a:ext cx="3790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90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- Export Discover evidence packets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256816-08CA-4089-97A9-20C86ECD6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90900"/>
            <a:ext cx="3714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065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- Dashboard reads active inventory by category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16C1D9-74E2-4073-B110-F6B33C78D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14750"/>
            <a:ext cx="3714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065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- Inventory shows added date for scanability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311684-549A-4D7E-A694-84200EF0B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38600"/>
            <a:ext cx="3714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065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- Only real client-action links are active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8AF186-F69A-4714-91AD-6D8D0B4EC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62450"/>
            <a:ext cx="3714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065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- Phase 4 preview and export work locally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C8F5F9-5F1A-4721-B2BE-A606E8AAE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86300"/>
            <a:ext cx="3714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065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- Docs and deck are committed to GitHub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FA13E0-D868-46D2-9588-3F8FBEAE1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9525">
            <a:solidFill>
              <a:srgbClr val="ECE5D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42FE38-6E7C-4947-AD80-BDAC68907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115050"/>
            <a:ext cx="857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B76E12"/>
                </a:solidFill>
                <a:latin typeface="Inter"/>
                <a:ea typeface="Inter"/>
                <a:cs typeface="Inter"/>
              </a:defRPr>
            </a:pPr>
            <a:r>
              <a:t>Local app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5328A7-67C5-41C5-8CF3-B17D45B4C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6115050"/>
            <a:ext cx="2095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38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http://localhost:3004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32C185-DAB8-4EDB-94A0-6A415C39F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6115050"/>
            <a:ext cx="762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B76E12"/>
                </a:solidFill>
                <a:latin typeface="Inter"/>
                <a:ea typeface="Inter"/>
                <a:cs typeface="Inter"/>
              </a:defRPr>
            </a:pPr>
            <a:r>
              <a:t>GitHub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1D9248-9764-41ED-BD34-85F9EDA72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6115050"/>
            <a:ext cx="2476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38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GitHub repository: Discover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FB30DA-22B8-45C4-BC96-200AC657F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6115050"/>
            <a:ext cx="476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B76E12"/>
                </a:solidFill>
                <a:latin typeface="Inter"/>
                <a:ea typeface="Inter"/>
                <a:cs typeface="Inter"/>
              </a:defRPr>
            </a:pPr>
            <a:r>
              <a:t>Docs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37208F-50FC-4D1C-9541-2FC2B3EC3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115050"/>
            <a:ext cx="2095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buNone/>
              <a:defRPr sz="938" b="0">
                <a:solidFill>
                  <a:srgbClr val="5B5870"/>
                </a:solidFill>
                <a:latin typeface="Inter"/>
                <a:ea typeface="Inter"/>
                <a:cs typeface="Inter"/>
              </a:defRPr>
            </a:pPr>
            <a:r>
              <a:t>README + docs folder + product deck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F98522-F77C-4332-A09C-319D2123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A"/>
          </a:solidFill>
          <a:ln xmlns:a="http://schemas.openxmlformats.org/drawingml/2006/main" w="9525">
            <a:solidFill>
              <a:srgbClr val="ECE5D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41A7FC-7BAD-430E-9315-CACF0A274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2095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8A869A"/>
                </a:solidFill>
                <a:latin typeface="Inter"/>
                <a:ea typeface="Inter"/>
                <a:cs typeface="Inter"/>
              </a:defRPr>
            </a:pPr>
            <a:r>
              <a:t>Discover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59F272-73B5-44D1-8C3A-B2BBA860A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8A869A"/>
                </a:solidFill>
                <a:latin typeface="Inter"/>
                <a:ea typeface="Inter"/>
                <a:cs typeface="Inter"/>
              </a:defRPr>
            </a:pPr>
            <a: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656041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2026-06-05T23:49:52.0840000Z</dcterms:created>
  <dcterms:modified xsi:type="dcterms:W3CDTF">2026-06-05T23:49:52.0840000Z</dcterms:modified>
</coreProperties>
</file>