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f7f003f64e4dbc" /><Relationship Type="http://schemas.openxmlformats.org/officeDocument/2006/relationships/extended-properties" Target="/docProps/app.xml" Id="Rde1b1bc3c3924e58" /><Relationship Type="http://schemas.openxmlformats.org/officeDocument/2006/relationships/officeDocument" Target="/ppt/presentation.xml" Id="R9add860d5aa14d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d48993b0884e6d"/>
  </p:sldMasterIdLst>
  <p:notesMasterIdLst>
    <p:notesMasterId xmlns:r="http://schemas.openxmlformats.org/officeDocument/2006/relationships" r:id="R0942d884d755485e"/>
  </p:notesMasterIdLst>
  <p:sldIdLst>
    <p:sldId xmlns:r="http://schemas.openxmlformats.org/officeDocument/2006/relationships" id="256" r:id="R5686ff5c9fa746fe"/>
    <p:sldId xmlns:r="http://schemas.openxmlformats.org/officeDocument/2006/relationships" id="257" r:id="R7e673671340a4d80"/>
    <p:sldId xmlns:r="http://schemas.openxmlformats.org/officeDocument/2006/relationships" id="258" r:id="Re1a14f04535d4f24"/>
    <p:sldId xmlns:r="http://schemas.openxmlformats.org/officeDocument/2006/relationships" id="259" r:id="Rdc6a729b580e4f2f"/>
    <p:sldId xmlns:r="http://schemas.openxmlformats.org/officeDocument/2006/relationships" id="260" r:id="R9637e7176e2642c9"/>
    <p:sldId xmlns:r="http://schemas.openxmlformats.org/officeDocument/2006/relationships" id="261" r:id="R08a6d557a60641f8"/>
    <p:sldId xmlns:r="http://schemas.openxmlformats.org/officeDocument/2006/relationships" id="262" r:id="R62b5e247ee3c41f3"/>
    <p:sldId xmlns:r="http://schemas.openxmlformats.org/officeDocument/2006/relationships" id="263" r:id="R3e4f692cc348422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88f4b90c8c4c36" /><Relationship Type="http://schemas.openxmlformats.org/officeDocument/2006/relationships/slideMaster" Target="/ppt/slideMasters/slideMaster1.xml" Id="R1cd48993b0884e6d" /><Relationship Type="http://schemas.openxmlformats.org/officeDocument/2006/relationships/notesMaster" Target="/ppt/notesMasters/notesMaster1.xml" Id="R0942d884d755485e" /><Relationship Type="http://schemas.openxmlformats.org/officeDocument/2006/relationships/presProps" Target="/ppt/presProps.xml" Id="R7032357f759f4487" /><Relationship Type="http://schemas.openxmlformats.org/officeDocument/2006/relationships/viewProps" Target="/ppt/viewProps.xml" Id="R6a8a7533a5c942fa" /><Relationship Type="http://schemas.openxmlformats.org/officeDocument/2006/relationships/tableStyles" Target="/ppt/tableStyles.xml" Id="R9bf458ade46141a6" /><Relationship Type="http://schemas.openxmlformats.org/officeDocument/2006/relationships/slide" Target="/ppt/slides/slide1.xml" Id="R5686ff5c9fa746fe" /><Relationship Type="http://schemas.openxmlformats.org/officeDocument/2006/relationships/slide" Target="/ppt/slides/slide2.xml" Id="R7e673671340a4d80" /><Relationship Type="http://schemas.openxmlformats.org/officeDocument/2006/relationships/slide" Target="/ppt/slides/slide3.xml" Id="Re1a14f04535d4f24" /><Relationship Type="http://schemas.openxmlformats.org/officeDocument/2006/relationships/slide" Target="/ppt/slides/slide4.xml" Id="Rdc6a729b580e4f2f" /><Relationship Type="http://schemas.openxmlformats.org/officeDocument/2006/relationships/slide" Target="/ppt/slides/slide5.xml" Id="R9637e7176e2642c9" /><Relationship Type="http://schemas.openxmlformats.org/officeDocument/2006/relationships/slide" Target="/ppt/slides/slide6.xml" Id="R08a6d557a60641f8" /><Relationship Type="http://schemas.openxmlformats.org/officeDocument/2006/relationships/slide" Target="/ppt/slides/slide7.xml" Id="R62b5e247ee3c41f3" /><Relationship Type="http://schemas.openxmlformats.org/officeDocument/2006/relationships/slide" Target="/ppt/slides/slide8.xml" Id="R3e4f692cc34842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c1cbf1ef4644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4b4c5d573e444c" /><Relationship Type="http://schemas.openxmlformats.org/officeDocument/2006/relationships/notesMaster" Target="/ppt/notesMasters/notesMaster1.xml" Id="R86c8926fb7b540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982f21a59a458a" /><Relationship Type="http://schemas.openxmlformats.org/officeDocument/2006/relationships/notesMaster" Target="/ppt/notesMasters/notesMaster1.xml" Id="R6449da3b774d4f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c7f88caaa5439d" /><Relationship Type="http://schemas.openxmlformats.org/officeDocument/2006/relationships/notesMaster" Target="/ppt/notesMasters/notesMaster1.xml" Id="Rf0d8b400018143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8a09175a024348" /><Relationship Type="http://schemas.openxmlformats.org/officeDocument/2006/relationships/notesMaster" Target="/ppt/notesMasters/notesMaster1.xml" Id="R9e09274bb25e4d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c1ea319d4a4c6d" /><Relationship Type="http://schemas.openxmlformats.org/officeDocument/2006/relationships/notesMaster" Target="/ppt/notesMasters/notesMaster1.xml" Id="R4fe1403346a942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b4ef3f230f47ce" /><Relationship Type="http://schemas.openxmlformats.org/officeDocument/2006/relationships/notesMaster" Target="/ppt/notesMasters/notesMaster1.xml" Id="R689d95cb278446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e6a906cd714980" /><Relationship Type="http://schemas.openxmlformats.org/officeDocument/2006/relationships/notesMaster" Target="/ppt/notesMasters/notesMaster1.xml" Id="R08cc0470f02a47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79d03e98f64976" /><Relationship Type="http://schemas.openxmlformats.org/officeDocument/2006/relationships/notesMaster" Target="/ppt/notesMasters/notesMaster1.xml" Id="R9759e48aea5540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4c0a94afd46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319728eae14d62" /><Relationship Type="http://schemas.openxmlformats.org/officeDocument/2006/relationships/slideLayout" Target="/ppt/slideLayouts/slideLayout1.xml" Id="Raddfc20b26d24b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dfc20b26d24b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e72c3385e4839" /><Relationship Type="http://schemas.openxmlformats.org/officeDocument/2006/relationships/notesSlide" Target="/ppt/notesSlides/notesSlide1.xml" Id="R4d09efae10b947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958ea0cce4225" /><Relationship Type="http://schemas.openxmlformats.org/officeDocument/2006/relationships/notesSlide" Target="/ppt/notesSlides/notesSlide2.xml" Id="R6278654ee5a440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db5e6f1874152" /><Relationship Type="http://schemas.openxmlformats.org/officeDocument/2006/relationships/notesSlide" Target="/ppt/notesSlides/notesSlide3.xml" Id="Rb2b3a0f38e6a4e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a1086f60d4460" /><Relationship Type="http://schemas.openxmlformats.org/officeDocument/2006/relationships/notesSlide" Target="/ppt/notesSlides/notesSlide4.xml" Id="R5db756904e674e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fc4a7553c4f2c" /><Relationship Type="http://schemas.openxmlformats.org/officeDocument/2006/relationships/notesSlide" Target="/ppt/notesSlides/notesSlide5.xml" Id="R8abb3e1a34a649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f8b8244d940a1" /><Relationship Type="http://schemas.openxmlformats.org/officeDocument/2006/relationships/notesSlide" Target="/ppt/notesSlides/notesSlide6.xml" Id="R3cf561ce03a34e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0bf2bfdfc40a1" /><Relationship Type="http://schemas.openxmlformats.org/officeDocument/2006/relationships/notesSlide" Target="/ppt/notesSlides/notesSlide7.xml" Id="R5649b5a5205e45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3cca492294fe3" /><Relationship Type="http://schemas.openxmlformats.org/officeDocument/2006/relationships/notesSlide" Target="/ppt/notesSlides/notesSlide8.xml" Id="R33adc191ac9140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4E46C5-723C-42CD-B063-31A97E3A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3AFFB-5318-47D6-A498-E52F041B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675B5-7F68-4905-8A74-3A5FC1D3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2F31F-DBEA-4902-8F65-5D50CEC7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9673B-151D-40C9-8EFB-BA92E05E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PRODUCT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C1C71-8DFC-4B42-B0E4-A4398A5D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34CD6-D227-4B16-A59B-A2FD306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A local opportunity operations studio for EB-1A profile-building inventory, source governance, matching, customer gating, and evidence exports.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07CA2-71CB-4A93-8C8A-F3885C64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0E7FF-B536-43A1-B6DE-A91B4B59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6435B-1795-4CD6-A94C-4DB2BEC0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295400"/>
            <a:ext cx="3028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CURRENT STATE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03ED98-8ADE-4146-A9F8-B17653F9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43050"/>
            <a:ext cx="3028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Local Next.js app, Postgres-backed, running on localhost:3004 with direct section URLs.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77B1F-E68E-45F4-A07E-2A3722FB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98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6A5A2-D0ED-413E-97FC-1323F320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98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5D5DC-0C9D-47E1-ACF5-2C5B96B8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62200"/>
            <a:ext cx="3028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POSITIONING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87BCB-4728-4D74-AFE3-CA9FDA3A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09850"/>
            <a:ext cx="3028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An internal operating system for finding, qualifying, matching, and sending opportunities.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828CFB-963F-4808-8F64-188B0BDC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766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F0C5F-0F35-4AC3-B2EC-E866CB5E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766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247FA8-BEE2-4F4C-96D1-3AEC70D1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29000"/>
            <a:ext cx="3028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FF60E-52DC-4F4D-BF16-E76970AB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3028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Finance status only. No amounts, invoices, balances, or thresholds enter Discover.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E33EC7-773D-420C-93BA-403C659E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4112A6-42CB-458B-B792-63686269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100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Inventory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0577CD-7F4A-4F11-B53B-5BD12101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33800"/>
            <a:ext cx="876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C0C3C3-E727-4621-9A63-47673F3D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100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Clients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91655-BA76-4DFC-B87C-C530B81C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33800"/>
            <a:ext cx="103251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1A56D-4300-42B6-B109-F910F94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0000"/>
            <a:ext cx="82296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Match &amp; 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7DF542-0296-45AB-953E-A64F67DE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3380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35C1BB-6798-4755-A046-A47F7290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10000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Source Registry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E2B923-49D1-451D-95C1-20C58C48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33800"/>
            <a:ext cx="110109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A37DBD-6878-40CD-8428-07DD5094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810000"/>
            <a:ext cx="89154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Daily Refresh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E6B88D-024E-4703-A80E-661461D9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3927F7-2142-4161-8D85-BE3BD93F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73486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687628-3EF9-40C2-96BC-EC63554B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DC354-62E8-41D4-B030-BFC08BA2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B6F79-9E60-42B9-969C-B8554E64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2D666E-2233-4A38-A77F-A3AD64F7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BCB82-4C16-40AE-A3F2-4EFB2E1B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33473-69F7-4A40-967E-5FBDFAC0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One spine for trusted opportunities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E3362-D76F-40D3-B3A7-B832D72C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Inventory is the durable record. Source governance, refresh, matching, sending, and exports all attach to that spine.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97B56-7CF0-424F-9091-43158DFF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238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7619F-8834-4684-9971-C77E7F93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4C0B6-3DFC-4916-8E3E-5DE93C18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19335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1. 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AA7F4-7A70-44E9-B38E-9CFACA9D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19335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Canonical source registry with predefined categories and multi-select EB-1A applicability tags.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44CF62-A2BF-4450-A03E-D5FE2E5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2238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9B6672-8216-40D9-AA1C-ABD9D6FB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3A985-674B-4282-AA23-0372FE0B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09950"/>
            <a:ext cx="19335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2. INVENTORY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983C5-2DA3-4AA7-BC76-6249A71D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57600"/>
            <a:ext cx="19335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Active opportunity records with category filter, search, added date, links, fees, status, and details.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6DF5A-52BF-4C92-B182-6E5024C0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57550"/>
            <a:ext cx="2238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EB7D27-9B99-4281-9C4C-220F3040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57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39A311-B225-4BE7-8B9E-D7650204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09950"/>
            <a:ext cx="19335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3. MATCH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6768E-848C-44FE-A35C-AB81AF25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657600"/>
            <a:ext cx="19335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AI-ranked client matches plus manual opportunity search for admin-directed pushes.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E7BCB-0BB5-4A81-B1F9-07570FFE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2238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83EFC5-DED0-499E-BB33-258CA26D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C64907-A4F0-454F-A828-A8A7BD6C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09950"/>
            <a:ext cx="19335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4. SEND/EXPORT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98E48D-1150-4504-BAAB-BF686B97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7600"/>
            <a:ext cx="19335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Emails, client preview, and evidence exports all pass through Finance engagement status.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D78A3D-B04E-4959-BBBD-EE0E6D16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909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BF7FBB-53FC-4BE9-BD85-EDC5FADE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909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472DF2-54D5-470B-97C5-4F009E8D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909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B245AF-0458-48A7-9E4A-C3FB81FE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DD83F8-AEFA-4002-8876-22732374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363691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89E4D-5B99-49B8-A249-DE509852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135D9-C0F9-4088-98E1-C6BE54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97188-C073-407D-84F8-8F1F7D87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67C8-C9BC-4914-B739-10572746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29189-5397-46C5-BDEA-2DB56696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RECENT PRODUCT UPDATES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4D0EF-6E99-46B6-B037-4E5C2D16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Navigation, filtering, and manual control are now first-class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65491-7F7C-45FB-A8FB-839FCED4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The portal is easier to move through, easier to search, and safer to operate.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36C8F-904C-4735-9DE2-5341A01D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09791-03BD-4E25-A8FC-5AB1B10A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242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Section URLs now reflect the current portal area: /inventory, /clients, /match-send, /source-registry, /daily-refresh, and /review-queue.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60700-6092-40CD-8DA3-5F2E0246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86136-F9D5-44CF-A751-D946879C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Browser back and forward restore the previous portal section instead of trapping users in one page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F7C182-BC44-46AE-A065-3B6DF9F2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DC9FD-0A15-4FFC-AF98-90959A25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529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Inventory adds a simple EB-1A category filter beside global search.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2451C-8449-4007-A3B7-A2D721D3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33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5DFCC-3286-4831-8CB6-30F45719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Match &amp; Send adds client search plus manual opportunity search, both using the same gated send path.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59D052-4C14-4F52-81C6-BA7F4FE1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06633-4572-44A6-9471-C6D60ACA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474132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36CF6-646C-473C-B48C-E41C91E5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32BDC-8FC9-4094-8249-E7384266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295DF-82A1-44BB-B113-A686524D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4DE50-0690-4CB1-896E-24F2B3B4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467A4-0E5C-4F7C-8861-D6323BD2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CUSTOMER STATUS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1F1A4-B395-45B1-BFAF-73AF78C8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Finance owns the flag. Discover gates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700F2-2C17-4640-82B1-F1793254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Discover consumes active / dormant / inactive / unknown and stores only the status plus timestamp.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8672C-113A-47AE-A0B8-EEF2C623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981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44AB7-2213-4B9C-B8FC-B17F256B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30256-E126-4156-83E8-726E402F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71825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5EE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31F9C-3627-4C52-8E71-9AE37836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4802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D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D6B4D"/>
                </a:solidFill>
                <a:latin typeface="Aptos"/>
                <a:ea typeface="Aptos"/>
                <a:cs typeface="Aptos"/>
              </a:rPr>
              <a:t>active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31FE8-80EF-42AA-AF0A-96E2C8C2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133725"/>
            <a:ext cx="3219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FINANCE PORTAL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17869-DB9F-4F8B-9AEC-09CDAD15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Eligible under Finance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3B3CA-19D7-4EDC-85BE-124E81F3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3372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DISCOVER PORTAL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7329B-D363-4C78-9050-504A873A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337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Pushable only when timestamp is fresh within 24 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237EA-3A91-48E1-A7AB-C1B7B089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981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345C2-3DA6-4182-AD14-CA0C442E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52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23D3B-704C-4441-A085-DE26546B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52875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1BD945-2DBA-4C39-BE7F-8F7607BF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290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520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520C"/>
                </a:solidFill>
                <a:latin typeface="Aptos"/>
                <a:ea typeface="Aptos"/>
                <a:cs typeface="Aptos"/>
              </a:rPr>
              <a:t>dormant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D5E0F-D713-4F76-BC2A-B3B067D2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914775"/>
            <a:ext cx="3219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FINANCE PORTAL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7F1D6-858C-40A9-825A-6D56D127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14800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Present but not active for outreach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8AC94B-9AFC-4AE5-966C-7AE70088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147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DISCOVER PORTAL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827347-530D-4A85-ABA8-8BA4399C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1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Profile visible; recommendations and sends blocked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0B9120-8985-4F08-AFE4-1F155A40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981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62DF75-A7AF-442F-AF2B-09892A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14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616DA2-8B63-49D3-87E6-68E2A8AC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33925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E11CF-B631-4FA6-BAEE-36FF34DF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012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F141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F1414"/>
                </a:solidFill>
                <a:latin typeface="Aptos"/>
                <a:ea typeface="Aptos"/>
                <a:cs typeface="Aptos"/>
              </a:rPr>
              <a:t>inactive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97E9A0-BEE4-40ED-A8B0-2E97515E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95825"/>
            <a:ext cx="3219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FINANCE PORTAL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0A97EF-FF64-4B55-B533-297F79A6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95850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Not eligible for current activity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810AE-E711-4731-A2A9-FEEE9563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9582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DISCOVER PORTAL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CE4CB2-0EC0-4B95-8C60-7DDECDEB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95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Match lists, emails, recommendations, and exports blocked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AE408-25E9-49DC-8AF1-2ED34C22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981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1DD61F-C2CE-4807-BC0F-8E6DAC96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5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D01D28-2C56-4D5B-9D0A-C8BD0453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14975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683413-6B16-4CDD-AF32-3E1CE7B7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911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B5B75"/>
                </a:solidFill>
                <a:latin typeface="Aptos"/>
                <a:ea typeface="Aptos"/>
                <a:cs typeface="Aptos"/>
              </a:rPr>
              <a:t>unknown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116229-6864-4522-970C-9F3619C1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476875"/>
            <a:ext cx="3219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FINANCE PORTAL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52C203-DA87-4EE8-A849-09BB870B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76900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No confirmed Finance status reached Discover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7AEAF2-1FDB-4B7F-8C8E-A2DB684F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76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DISCOVER PORTAL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9267B6-844A-4AA9-9140-592EC7B0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769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Default fail-closed state until Finance confirms active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699BD1-3610-4A6B-A094-ACD0C944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E8280F-5595-4EA0-B2A2-5AB5C464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562519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F6C6C7-AEFA-42D0-B6F7-DC2FBEB9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F9118-7730-400A-B0A3-071D0ED9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2F17E-C37D-4812-9730-35427F5E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1DFF8-7449-42E7-9950-A806EF09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1578B-5144-49A1-AA71-AA139623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MATCH &amp; SEND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13164-DCAC-4CF4-A44A-FFD4973A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AI-ranked matching and manual pushes now live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EAE67-B847-4B40-AD7C-B7620486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Admins can search clients, review ranked matches, or search active inventory directly before sending.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76DFF-0287-4E11-B7A0-BB41BC9A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3C066-B5FD-41F3-9835-061773C0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AF0AE-7A06-4805-B01B-3F117F76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CLIENT 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2037D1-18E3-449B-80DA-B773A90D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255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Search by name, email, field, location, or keyword before selecting the active client.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5DFF0-566D-4016-B789-276482F2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2420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18FB6-75DC-48A7-9C03-2CACEAD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2420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65A8D-5774-4D35-8565-CE821F8A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766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AI MATCH QUEUE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6F41E-5BFC-406C-A30F-C31DB026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24250"/>
            <a:ext cx="255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Ranked by criterion gap, credibility, keyword fit, semantic fit, actionability, and location.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E64DBF-5FC0-4CD0-9B0B-DC2C565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2420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2F204B-5D74-40E2-8B28-1FF8C366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2420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8F584D-7B1C-4AE9-9498-61792937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766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MANUAL PUSH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8916B-2EA3-4279-9E20-B905C386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24250"/>
            <a:ext cx="255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Search active inventory and send a chosen opportunity through the same email modal and Finance gate.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152C26-256C-4813-977B-D1DE7A91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EDA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ADF92A-5A81-4F07-9FB3-9A5CB6B2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73180-8687-4FE0-AB2C-909A9B5E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9601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CRITICAL 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1259B6-296E-4228-A037-FFBD625F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9601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Manual sending does not bypass engagement status: dormant, inactive, unknown, missing, or stale status blocks the push.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7E1FC5-9C4C-4D6F-A28C-2C2DD3F7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B1667-3D93-4456-9B2C-635BE896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642676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74A9C-9E0C-41A2-9368-4274FF51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0783F-15FB-4F11-8D9D-3BBB4829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A207C-4DE6-4E7B-844A-3F7B6C54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6CB11-33C1-44C0-8E62-57EF7DD1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7662B-D4B2-41AF-9DBD-59C73F5B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CANONICAL SOURCE REGISTRY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92AA4-5ED6-43A3-BBD1-77BBAA99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Predefined categories and multi-tag applicability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05CFD-463F-45FE-ADD4-27D36FB8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New sources can be classified quickly while preserving the canonical allowlist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81C6E-D0C3-4A7A-8F96-F81086F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E2B0D-B95D-4CAD-8D1A-D515B10D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923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Registry category uses predefined EB-1A source categories such as Awards, Judging, Media, Authorship, Speaking, and Leadership.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8B728-0A43-4948-828A-096CB030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E214C-BE1E-427B-A192-E03AAC43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923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Applicability tags are multi-select chips, stored as the source criteria_tags array for matching and review workflows.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F32AD-54D9-47E5-9F2C-7BF10C95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7643C-6459-4FFB-9B69-6A42F64A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923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Canonical domain, seed URL, tier, status, and refresh settings remain unchanged.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3DB6FF-85DB-4860-8BF4-3F97E99C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EF5BAB-75A6-4FB5-90F4-B26C02B9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923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Daily Refresh continues to use official host pages and avoids aggregator-style broad scraping.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3EC3B-055D-48B6-9AB5-FDE88037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56191-C82A-4AEC-8275-5DAA3B97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9005671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AED56B-FC97-4621-9B68-8DCFDECA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C5E2E-6A31-49A9-9784-C0F33E95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EDF59-1336-43BF-809C-9CEFDEF6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3F164-9B87-4720-A875-87416E84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DAB50-1FC5-4118-B74F-0D6BC14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TECHNICAL FOOTPRINT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3843F-458C-4AC6-8846-70D6E6DF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Local-first portal with durable routes and gated APIs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0E145-25F1-45F2-9F62-C44621DB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The current implementation keeps product navigation, source governance, and customer gating in one local app.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BC624-C01E-4685-8556-9B9A7B96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2857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3EC60-1131-4289-BE38-BADD7445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B9911-D090-4C86-B407-3EDB09D1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5F26D6-2607-42B7-8C8B-546A861A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2552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Next.js client portal with SETU-style visual system, route-aware tabs, responsive dense tables, and modal workflows.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9A9E3-F053-4719-9419-D9165B36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2857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E6FBE-C513-4F1A-A564-A428BE08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307D89-460E-4AEA-99B2-6E0B7D13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0C4F74-C759-48D0-A428-121F132E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2552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Next.js API routes over Postgres for state, CRUD, matching, email logging, ingestion, webhooks, and exports.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5946A-A74A-4B0B-BBBB-882C41B8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2857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652DAE-226B-4D51-BCC6-357D267B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FAA066-42D3-4D85-BE47-7F2AFA61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62300"/>
            <a:ext cx="2552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D3434-71CE-4287-871B-56725145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409950"/>
            <a:ext cx="2552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Finance engagement sync + webhook stores only status and as_of timestamp. All push APIs fail closed.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E67BD-E9C2-489D-85AD-4DC5FD61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6668">
            <a:solidFill>
              <a:srgbClr val="D8D6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1148C-CA56-4B8D-AFA3-ADEA0B7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98F13A-7224-4B89-821D-2A2E6B59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9601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PAUSED CAPABILITY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ACF702-70CF-4627-9CC5-B39B1948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9601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The discovery agent runner remains intentionally removed: no Run agent button, no /api/agent/run endpoint, and no LangGraph dependency.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9C7136-E02E-42BF-BED9-18B7BF02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E40C6F-31F5-4783-AF49-D8F53909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285143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140E63-CB81-473A-83CC-BF8C5F53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DE327-F668-4E92-BF32-B36FF8D6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5715">
            <a:solidFill>
              <a:srgbClr val="D8D6C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4C37E-27A0-4DAA-A5F0-5A7852FA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SETU Discover Opportunity Studio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BF4CA-CC68-42EC-8520-BE004FF5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B2F973-A24F-45AF-BA11-C6462F1E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295A8"/>
                </a:solidFill>
                <a:latin typeface="Aptos"/>
                <a:ea typeface="Aptos"/>
                <a:cs typeface="Aptos"/>
              </a:rPr>
              <a:t>VERIFICATION SNAPSHOT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A081B-A322-4B8F-A97B-9DAD0F7F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657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A1A1F"/>
                </a:solidFill>
                <a:latin typeface="Aptos"/>
                <a:ea typeface="Aptos"/>
                <a:cs typeface="Aptos"/>
              </a:rPr>
              <a:t>Current local build is ready for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1DCB4-19D0-47E5-9737-489379C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B5B75"/>
                </a:solidFill>
                <a:latin typeface="Aptos"/>
                <a:ea typeface="Aptos"/>
                <a:cs typeface="Aptos"/>
              </a:rPr>
              <a:t>All changes were validated on the running local product before commit.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7ADD3-A470-44BF-93EF-3FCA9D80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209DD-3CC9-4DB8-8EAF-37CD936D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npm run lint passed and npm run build passed with /[section] included in the route manifest.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65391B-E1B3-488F-A716-A00B9B4B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4DC8A-FA52-460B-B3B2-ADAE2031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0520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Direct paths and browser history verified: /inventory, /clients, /match-send, and /source-registry.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B4774-4C0F-4590-9EFC-2CDC3DA6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86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96CC0-6918-49D5-93F2-06D0BAB4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195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Inventory EB-1A filter, Match &amp; Send client search, manual opportunity search, status legend, and source multi-tag chips smoke-tested in Chrome.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C8D85-72AD-4AD5-B10D-0FEB1A29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75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2E054-DD29-40B5-B777-78F09705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3390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A1A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A1A1F"/>
                </a:solidFill>
                <a:latin typeface="Aptos"/>
                <a:ea typeface="Aptos"/>
                <a:cs typeface="Aptos"/>
              </a:rPr>
              <a:t>Mobile viewport check passed with no horizontal overflow on Match &amp; Send.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78D63-3470-4CCF-9307-820527C5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Local product artifact · SETU Discover Opportunity Studio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1BFFB0-BC5D-4BE9-92DC-8E3A5DFF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389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295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295A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493468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2026-06-07T04:34:09.3650000Z</dcterms:created>
  <dcterms:modified xsi:type="dcterms:W3CDTF">2026-06-07T04:34:09.3650000Z</dcterms:modified>
</coreProperties>
</file>