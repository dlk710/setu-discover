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ac19d1b4c04527" /><Relationship Type="http://schemas.openxmlformats.org/officeDocument/2006/relationships/extended-properties" Target="/docProps/app.xml" Id="R5d1f1ba9ede74d51" /><Relationship Type="http://schemas.openxmlformats.org/officeDocument/2006/relationships/officeDocument" Target="/ppt/presentation.xml" Id="R6ef5f4dfa0314b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d9aad03f68430c"/>
  </p:sldMasterIdLst>
  <p:notesMasterIdLst>
    <p:notesMasterId xmlns:r="http://schemas.openxmlformats.org/officeDocument/2006/relationships" r:id="R6a6ad837e89044c7"/>
  </p:notesMasterIdLst>
  <p:sldIdLst>
    <p:sldId xmlns:r="http://schemas.openxmlformats.org/officeDocument/2006/relationships" id="256" r:id="R686e3252088e45d3"/>
    <p:sldId xmlns:r="http://schemas.openxmlformats.org/officeDocument/2006/relationships" id="257" r:id="R03ec6db45f62415e"/>
    <p:sldId xmlns:r="http://schemas.openxmlformats.org/officeDocument/2006/relationships" id="258" r:id="Rb7d73e2c87334139"/>
    <p:sldId xmlns:r="http://schemas.openxmlformats.org/officeDocument/2006/relationships" id="259" r:id="Rf1120c98eb514ab8"/>
    <p:sldId xmlns:r="http://schemas.openxmlformats.org/officeDocument/2006/relationships" id="260" r:id="R76bec0e83e2a4c50"/>
    <p:sldId xmlns:r="http://schemas.openxmlformats.org/officeDocument/2006/relationships" id="261" r:id="R7e53fa8c5a0245b2"/>
    <p:sldId xmlns:r="http://schemas.openxmlformats.org/officeDocument/2006/relationships" id="262" r:id="R48b381c5d0f24927"/>
    <p:sldId xmlns:r="http://schemas.openxmlformats.org/officeDocument/2006/relationships" id="263" r:id="Rcd0231abe85d431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bc7b55c1bd4c7c" /><Relationship Type="http://schemas.openxmlformats.org/officeDocument/2006/relationships/slideMaster" Target="/ppt/slideMasters/slideMaster1.xml" Id="R6ed9aad03f68430c" /><Relationship Type="http://schemas.openxmlformats.org/officeDocument/2006/relationships/notesMaster" Target="/ppt/notesMasters/notesMaster1.xml" Id="R6a6ad837e89044c7" /><Relationship Type="http://schemas.openxmlformats.org/officeDocument/2006/relationships/presProps" Target="/ppt/presProps.xml" Id="Rfec1737e877a4882" /><Relationship Type="http://schemas.openxmlformats.org/officeDocument/2006/relationships/viewProps" Target="/ppt/viewProps.xml" Id="R0f18b4c659b04107" /><Relationship Type="http://schemas.openxmlformats.org/officeDocument/2006/relationships/tableStyles" Target="/ppt/tableStyles.xml" Id="Re2d0d499ebea4b0e" /><Relationship Type="http://schemas.openxmlformats.org/officeDocument/2006/relationships/slide" Target="/ppt/slides/slide1.xml" Id="R686e3252088e45d3" /><Relationship Type="http://schemas.openxmlformats.org/officeDocument/2006/relationships/slide" Target="/ppt/slides/slide2.xml" Id="R03ec6db45f62415e" /><Relationship Type="http://schemas.openxmlformats.org/officeDocument/2006/relationships/slide" Target="/ppt/slides/slide3.xml" Id="Rb7d73e2c87334139" /><Relationship Type="http://schemas.openxmlformats.org/officeDocument/2006/relationships/slide" Target="/ppt/slides/slide4.xml" Id="Rf1120c98eb514ab8" /><Relationship Type="http://schemas.openxmlformats.org/officeDocument/2006/relationships/slide" Target="/ppt/slides/slide5.xml" Id="R76bec0e83e2a4c50" /><Relationship Type="http://schemas.openxmlformats.org/officeDocument/2006/relationships/slide" Target="/ppt/slides/slide6.xml" Id="R7e53fa8c5a0245b2" /><Relationship Type="http://schemas.openxmlformats.org/officeDocument/2006/relationships/slide" Target="/ppt/slides/slide7.xml" Id="R48b381c5d0f24927" /><Relationship Type="http://schemas.openxmlformats.org/officeDocument/2006/relationships/slide" Target="/ppt/slides/slide8.xml" Id="Rcd0231abe85d43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b90ce2738e4b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7781884d194857" /><Relationship Type="http://schemas.openxmlformats.org/officeDocument/2006/relationships/notesMaster" Target="/ppt/notesMasters/notesMaster1.xml" Id="R550805f59ba449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cd0cfc40e84542" /><Relationship Type="http://schemas.openxmlformats.org/officeDocument/2006/relationships/notesMaster" Target="/ppt/notesMasters/notesMaster1.xml" Id="R52176807d58e4a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74fa8345294c86" /><Relationship Type="http://schemas.openxmlformats.org/officeDocument/2006/relationships/notesMaster" Target="/ppt/notesMasters/notesMaster1.xml" Id="R81313e39a38340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c133347aca4a49" /><Relationship Type="http://schemas.openxmlformats.org/officeDocument/2006/relationships/notesMaster" Target="/ppt/notesMasters/notesMaster1.xml" Id="R7693a049043744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e06ac731944eed" /><Relationship Type="http://schemas.openxmlformats.org/officeDocument/2006/relationships/notesMaster" Target="/ppt/notesMasters/notesMaster1.xml" Id="Re2de855f424149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526644e09b4ea8" /><Relationship Type="http://schemas.openxmlformats.org/officeDocument/2006/relationships/notesMaster" Target="/ppt/notesMasters/notesMaster1.xml" Id="Rce975f24630441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0d44f719f4414f" /><Relationship Type="http://schemas.openxmlformats.org/officeDocument/2006/relationships/notesMaster" Target="/ppt/notesMasters/notesMaster1.xml" Id="Reb94c4a890b24d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deb2cd4eb84ada" /><Relationship Type="http://schemas.openxmlformats.org/officeDocument/2006/relationships/notesMaster" Target="/ppt/notesMasters/notesMaster1.xml" Id="Rc9e0fe6a98814c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4c26b8fc824c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ec187d425f4f31" /><Relationship Type="http://schemas.openxmlformats.org/officeDocument/2006/relationships/slideLayout" Target="/ppt/slideLayouts/slideLayout1.xml" Id="R96062992681848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062992681848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01e6f1d5f45d3" /><Relationship Type="http://schemas.openxmlformats.org/officeDocument/2006/relationships/notesSlide" Target="/ppt/notesSlides/notesSlide1.xml" Id="R032e0ca37f3a48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c82114ec84151" /><Relationship Type="http://schemas.openxmlformats.org/officeDocument/2006/relationships/notesSlide" Target="/ppt/notesSlides/notesSlide2.xml" Id="Rc20cc87b4b614d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8f02081b24e58" /><Relationship Type="http://schemas.openxmlformats.org/officeDocument/2006/relationships/notesSlide" Target="/ppt/notesSlides/notesSlide3.xml" Id="R60d3d5b4c0a342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40a7a3c434d90" /><Relationship Type="http://schemas.openxmlformats.org/officeDocument/2006/relationships/notesSlide" Target="/ppt/notesSlides/notesSlide4.xml" Id="R45df36c8f98645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3b624ac5849fd" /><Relationship Type="http://schemas.openxmlformats.org/officeDocument/2006/relationships/image" Target="/ppt/media/image.png" Id="Rf276eb8ca979446f" /><Relationship Type="http://schemas.openxmlformats.org/officeDocument/2006/relationships/notesSlide" Target="/ppt/notesSlides/notesSlide5.xml" Id="R96365a3ca58d45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9d6dbb4a24d78" /><Relationship Type="http://schemas.openxmlformats.org/officeDocument/2006/relationships/notesSlide" Target="/ppt/notesSlides/notesSlide6.xml" Id="R4efe3cf9be074a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b273bc6e44f70" /><Relationship Type="http://schemas.openxmlformats.org/officeDocument/2006/relationships/notesSlide" Target="/ppt/notesSlides/notesSlide7.xml" Id="R709775656db74f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e3863a37b4033" /><Relationship Type="http://schemas.openxmlformats.org/officeDocument/2006/relationships/notesSlide" Target="/ppt/notesSlides/notesSlide8.xml" Id="R4383f67ffbd849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7427CB-A6C7-4E3B-818F-0830756B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PHASE 4 PRODUCT FINISH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B28B9-BF10-4A95-AE57-A751B5C9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477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SETU - DISCOVER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F74F3-685D-4960-A275-13D1FFB2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572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Local intelligence layer for finding, qualifying, matching, sending, and exporting client-ready profile-building opportunities.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CC035-8B7C-428F-918E-68EFDC09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314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1A5CA-D51C-47BB-BBE6-1968A0C4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1085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Postgres 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BB96E-E25A-4D64-9D3C-0EFF3DFB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76500"/>
            <a:ext cx="1485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9304C-DF59-4BC0-9C4B-9C063375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24125"/>
            <a:ext cx="1257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Human-approved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300BC-A962-41E5-A6DE-38A0C2F6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1314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08CCA-DAE8-4435-A7AF-4F192FC0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1085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SETU handoff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1B116-13F4-40AB-99A7-A70415A2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FC9DA3-EF05-482A-A3F9-BEE82427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466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45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02F6B-20CC-49F3-B25C-D9106080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1466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Canonical sources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C2DCC-6AD6-4233-A8B6-16EFE00F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466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Imported from master registry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95DCCE-959B-46FD-8268-9D6A1593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7660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000F3-0DCC-47D7-8473-D457CF1A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86150"/>
            <a:ext cx="1466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CA428-A98B-4222-A9F8-5BF7A183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2400"/>
            <a:ext cx="1466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Active paths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F73BEC-8A94-4775-BF00-769358EB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91000"/>
            <a:ext cx="1466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Vetted real opportunities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309FCE-77DE-45E8-B32A-13B28352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7660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34DF75-45F7-4224-9B4A-9318D234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86150"/>
            <a:ext cx="1466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0059C-532B-4A2D-BCA8-876AB86A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62400"/>
            <a:ext cx="1466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Match signals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133FD4-5013-40DD-858C-5FCB9FA4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191000"/>
            <a:ext cx="1466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Including semantic fit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004BA6-8406-4EE5-9370-F75F7B81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66750"/>
            <a:ext cx="3429000" cy="51054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784D06-D98F-482E-A887-C1FEE908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9906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Operating ladder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3EE970-A458-4EA6-8971-DA07DB79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14450"/>
            <a:ext cx="2571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From trusted source to client evidence packet.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26F37C-3902-47B6-A61B-5378781F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43100"/>
            <a:ext cx="28194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91196F-15FA-480B-B4E0-E1E73FCC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28825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Source registry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E1CA6A-CD9D-4A8A-824B-D8F1E543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19325"/>
            <a:ext cx="2324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45 canonical EB-1A sources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8BB59-8C92-4E3B-A22E-965752CF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12"/>
          </a:solidFill>
          <a:ln xmlns:a="http://schemas.openxmlformats.org/drawingml/2006/main" w="9525">
            <a:solidFill>
              <a:srgbClr val="B76E1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4EB334-3BC0-42CC-B51E-A6308569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09850"/>
            <a:ext cx="28194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4C7EEF-EC20-49D8-8985-0CCE5029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95575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Guarded refresh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78082D-06AB-4F79-A50D-FC5CDAE8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86075"/>
            <a:ext cx="2324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Canonical domains and link checks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3F07F1-3B98-4141-B6FF-DBE22FB2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24200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12"/>
          </a:solidFill>
          <a:ln xmlns:a="http://schemas.openxmlformats.org/drawingml/2006/main" w="9525">
            <a:solidFill>
              <a:srgbClr val="B76E1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A956EB-7CA1-43DD-9C84-4E34D7F3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76600"/>
            <a:ext cx="28194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5D7E40-5773-48D3-9319-61707457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62325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Human review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0AD8B2-4458-412F-9F5F-CBA6A9C5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52825"/>
            <a:ext cx="2324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Approve uncertain discoveries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ECB941-1ADF-46EB-BEAF-7EB2E5DD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90950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12"/>
          </a:solidFill>
          <a:ln xmlns:a="http://schemas.openxmlformats.org/drawingml/2006/main" w="9525">
            <a:solidFill>
              <a:srgbClr val="B76E1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98B0F8-9A92-4B52-B7DC-BF48360F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43350"/>
            <a:ext cx="28194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A4948F-ACF1-4F48-A150-E43A5B22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29075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Hybrid match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1D4CC3-13D3-43B5-A6C3-5EFA6647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19575"/>
            <a:ext cx="2324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Criteria, credibility, semantic fit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D2FC9C-3BC5-4F0D-B2BA-CE61BB34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57700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12"/>
          </a:solidFill>
          <a:ln xmlns:a="http://schemas.openxmlformats.org/drawingml/2006/main" w="9525">
            <a:solidFill>
              <a:srgbClr val="B76E1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738FA1-D26A-4CBE-B9F6-AFA7E9AE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10100"/>
            <a:ext cx="28194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B9DEC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906AC2-7999-4AC2-970C-AB4B1209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95825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745B"/>
                </a:solidFill>
                <a:latin typeface="Inter"/>
                <a:ea typeface="Inter"/>
                <a:cs typeface="Inter"/>
              </a:defRPr>
            </a:pPr>
            <a:r>
              <a:t>SETU export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CDCC58-E4C8-4810-BC42-1469580A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86325"/>
            <a:ext cx="2324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Evidence packet for handoff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36A3A0-EA6E-497D-B8F7-B2EF3315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8551D9-4709-4711-B76C-8E7F97A6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409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Review entry: http://localhost:3004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53659C-772F-4D6A-9815-2B6B4F08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115050"/>
            <a:ext cx="419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GitHub target: dlk710/setu-discover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BD5EEF-EDEF-4C3A-91E6-3BD03B75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FFB52F-39E5-4430-A0B8-3CE1C672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SETU - DISCOVER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BB9D4E-3F0E-4B5B-B95B-B32C3373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152305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ECAC19-C3F0-4086-B39D-0E5D6C00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PRODUCT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6D9B8-C675-404B-A0EF-F80F3CDD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A source-to-evidence operating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CB06B-8D9F-4A51-A567-8460620F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429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The product is built around one durable inventory spine. Every automation either enriches that spine, asks for review, or produces a client handoff.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B33CF-0A4B-426E-B8AE-2F7AA420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E4DA2-8524-41E2-BB76-91A79AE8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89D84-897D-4B7C-ADA1-F58E9FE3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7FEB9-D802-4BD7-ADF8-94B5B71D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35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Source governance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0C493-D657-42C8-9212-AA1993EE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1352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Registry rank, canonical domain, tier, refresh flag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22802-C466-4EF2-9898-1E4DE9E8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5433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12"/>
          </a:solidFill>
          <a:ln xmlns:a="http://schemas.openxmlformats.org/drawingml/2006/main" w="9525">
            <a:solidFill>
              <a:srgbClr val="B76E1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D7FD2-3063-4D9D-BD01-7F121CD9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8130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682FD-C00E-4FA7-8228-0A0416EE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099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1E106-DCED-4415-9B93-1661106D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25BB6-A3DC-4701-B4E2-A915BF0A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00450"/>
            <a:ext cx="135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Discovery engine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C56262-67B6-4AD0-BC88-D57F1BC5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38600"/>
            <a:ext cx="1352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Phase 2 ingestion plus Phase 3 constrained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D2165-B7B8-423C-BF11-3C0F6D25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433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12"/>
          </a:solidFill>
          <a:ln xmlns:a="http://schemas.openxmlformats.org/drawingml/2006/main" w="9525">
            <a:solidFill>
              <a:srgbClr val="B76E1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FA190-CC4D-4FAF-AF55-F9DDF1FA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8130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155E7D-8836-4FC2-99FC-D4E5699F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099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72D54F-D8E0-4234-B6FB-3BD3A4C0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670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5EFF7E-CFA2-4A37-81A8-48B5573A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00450"/>
            <a:ext cx="135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Review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89F3F5-CC4F-4B69-B660-D9633C03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38600"/>
            <a:ext cx="1352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Low-confidence and policy-flagged items wait for human approval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69A3B6-401D-4E1B-B5A5-426AF649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433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12"/>
          </a:solidFill>
          <a:ln xmlns:a="http://schemas.openxmlformats.org/drawingml/2006/main" w="9525">
            <a:solidFill>
              <a:srgbClr val="B76E1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46E65C-074F-4535-AC5E-4F0528E5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8130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8F65F7-F528-4CD1-82ED-33174BFE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099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B9DEC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06B813-01F1-441A-A08A-736CCE9E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670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745B"/>
                </a:solidFill>
                <a:latin typeface="Inter"/>
                <a:ea typeface="Inter"/>
                <a:cs typeface="Inter"/>
              </a:defRPr>
            </a:pPr>
            <a: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EC4BCF-90F0-4E0C-9CD8-612D0842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0450"/>
            <a:ext cx="135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Inventory spine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A9BC2C-F1DD-4284-B1FD-46AE3036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38600"/>
            <a:ext cx="1352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Postgres events table with status, links, source, and added date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653E00-BEFE-41F4-BDFC-F41829A4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433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12"/>
          </a:solidFill>
          <a:ln xmlns:a="http://schemas.openxmlformats.org/drawingml/2006/main" w="9525">
            <a:solidFill>
              <a:srgbClr val="B76E1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63B616-9F3B-4FEF-B855-8E6EF801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8130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A9DFAF-4D8A-4829-88C3-5FDB1EBD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99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654EFC-C643-42EC-83A8-36B739C7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670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7A0E4C-D666-4DF4-B156-06317E23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00450"/>
            <a:ext cx="135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Client output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EB2B1C-C597-4C46-9EC8-959F4C0C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38600"/>
            <a:ext cx="1352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Hybrid recommendations, email log, and SETU JSON export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45E958-8412-44DE-9781-A640C86E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9334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A5EF01-E601-4A35-8557-8AC7051C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6255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System promise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E7B1E9-70E9-4064-8934-45C694F4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24450"/>
            <a:ext cx="7239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No opportunity becomes active inventory unless it has a public, client-facing source/apply link and passes the product guardrails.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8E9930-56A9-4B59-A358-BC262734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2008D1-3DF4-4CDC-80EE-BB34F930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SETU - DISCOVER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E67446-16B6-460A-8AE2-BB2F1FBF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563386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104BF9-A8FB-4113-9FD4-803B0992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INVENTORY TRUST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AB2D4-FF20-4573-BAD0-F34A912F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Active inventory now shows real client-action paths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3A1EB-C79C-4465-B0FB-27187B1A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524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The source registry remains broad, but active inventory is deliberately narrow: standing opportunities are created only where a client can go to the source site and 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A9E6C-778E-411F-B6A7-CDB58F5A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619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287C3-8222-44ED-9E62-801741AC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276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76F3E-1D91-4DCE-90D7-53C624E5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27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Registry 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6CF24-8B7C-424D-9568-A4A08F49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127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Master EB-1A source 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7DD9D-BBC9-4E92-927E-0BE03EBE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194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12"/>
          </a:solidFill>
          <a:ln xmlns:a="http://schemas.openxmlformats.org/drawingml/2006/main" w="9525">
            <a:solidFill>
              <a:srgbClr val="B76E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24FAA-D971-44F0-8862-536CF62A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2890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ED148-4ACD-4E23-A222-65255234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1466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58E93-BCEF-4C60-BF20-9DDCF367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1466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Standing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52CDE0-CCBF-4D51-B7B2-6566A301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43300"/>
            <a:ext cx="1466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Inserted as active inventory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2D464-DD9F-4D50-8D81-A77604C0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194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12"/>
          </a:solidFill>
          <a:ln xmlns:a="http://schemas.openxmlformats.org/drawingml/2006/main" w="9525">
            <a:solidFill>
              <a:srgbClr val="B76E1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FDD360-020C-41AD-8E04-BF2B3A31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28900"/>
            <a:ext cx="1714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894CB8-4A94-4246-A0F5-94F443B9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38450"/>
            <a:ext cx="1371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9F43CD-6A2D-447B-A6FF-F6FE2FC6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14700"/>
            <a:ext cx="137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Active fixtures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D7FEB4-634D-424F-90D8-0DAC5FAA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43300"/>
            <a:ext cx="137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Old demo records archived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8C712C-88BC-4C26-8E20-C27B6888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95550"/>
            <a:ext cx="2286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B9DE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0635F-091C-424F-B010-F7C9F5CE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003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745B"/>
                </a:solidFill>
                <a:latin typeface="Inter"/>
                <a:ea typeface="Inter"/>
                <a:cs typeface="Inter"/>
              </a:defRPr>
            </a:pPr>
            <a:r>
              <a:t>Added date visible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554B68-A2B4-43C9-BE66-019CBCE4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1809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Inventory rows now expose the date each opportunity was added, so the team can scan freshness without opening details.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2EE8D8-82F2-4956-A420-9F9EC284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2679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4FAF8D-34B9-4E25-975F-B2EB1C12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3870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Example active list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F89C87-3E61-4779-8208-807D2695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The Conversation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EBCC31-BF07-46BF-B1B4-50752B65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9115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Pitch an article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830BA3-70A8-4100-A1D0-8E7B35C5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8165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Published Material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A8F93E-35AC-4789-B2A7-48876C2F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816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MIT Tech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61DD80-D7A9-489E-916B-05115B76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9115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Innovators Under 35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0B6F32-8AEE-437B-AEE0-B0758557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58165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Awards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599E9D-29BC-4F2C-9449-B9371579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816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NIH CSR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1C4012-9BE6-40AD-9161-923C643C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39115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Early Career Reviewer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41461F-A537-4019-9719-3551FC8E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58165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Judging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5B1B00-B676-40B3-8D8E-7E0DCC81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816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ACM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D1439C-58AB-458F-90B2-0A8C95F8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9115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Senior Member nomination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89F658-DD94-4AF2-BEF2-0750087F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58165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Membership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3CEC66-993F-46E9-9054-0EE1CF6D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5829DC-1028-4564-9E22-D45CBD75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SETU - DISCOVER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E12352-41D2-484A-9A0F-D27EB1F4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66722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C6774B-5E62-4BD8-BFA1-FA0FE31D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HYBRID MATCHING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7AE71-CAF5-45FA-9DF0-32A54840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001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Matching is explainable enough for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8A9FE-97B7-41BC-B9B5-853320E4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524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Phase 4 keeps deterministic scoring visible, then adds a local semantic signal so related profile language can rank even when exact words differ.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8D9C5-F6AB-4C44-959C-FCB408A5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51435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B902E-5465-444B-99C0-19C50835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Score components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B9F85-4B5C-48A0-85F6-88CD1FB7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00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Gap fit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1664A-7E1B-45E2-9926-66504BC0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86125"/>
            <a:ext cx="1790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E6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9AF82-070E-4A67-AF17-3FAB44C4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86125"/>
            <a:ext cx="1540002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B8B95-45D9-498C-A822-32B2A6EF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385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20 pts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F2E46-1BA3-42DE-A1AD-CCE1C8E1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38500"/>
            <a:ext cx="100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Targets open EB-1A criteria 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1257C-9439-4BC2-9A72-6B761306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100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Credibility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84CA1-189D-485D-BFF1-12526EE3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29025"/>
            <a:ext cx="1790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E6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CA3F6-A6EB-4898-9211-287EEB1F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29025"/>
            <a:ext cx="1396746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B4EDB-A5A5-4B46-A34A-F9D33697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814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20 pts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017989-67F3-480C-925B-40342736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81400"/>
            <a:ext cx="100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Rewards higher-trust sources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BB302-CE01-40A5-92A9-DD5F8578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100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Keyword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82111-0326-4279-8A94-11ADF397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71925"/>
            <a:ext cx="1790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E6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09671-1E40-4D4A-9A2C-C04DE86A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71925"/>
            <a:ext cx="1289304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C355B6-FB99-4C60-9224-21FE678B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243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14 pts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5A5D54-9AE0-4893-AE65-CD5A9E98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24300"/>
            <a:ext cx="100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Finds exact profile language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FC4C80-9CAA-4D59-A368-C318E9BB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100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Semantic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92BB59-A787-4F54-A213-4F817ABA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14825"/>
            <a:ext cx="1790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E6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D559FF-4A7C-45AB-824B-A0B17422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14825"/>
            <a:ext cx="1217676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B9DEC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D08591-4EA1-43D0-974D-8D836584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672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14 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1938B4-9186-4B7A-A875-2AC7ADF2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67200"/>
            <a:ext cx="100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Local similarity across field and summary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83E39A-A914-4066-AC0E-AC27B9F3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100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Actionability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326030-E731-42FF-BB1F-7D46138C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57725"/>
            <a:ext cx="1790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E6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7E6691-597E-4391-8B5F-E702D3CC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57725"/>
            <a:ext cx="143256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751AD7-542E-42A7-B5C8-5DCC194B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01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12 pts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692D7D-4EA9-4590-8CC5-9AA33E8D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10100"/>
            <a:ext cx="100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Prefers clear apply or submit paths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3DD197-0D69-4042-A699-DEBFACC1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100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Location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5DEC22-899A-4DAF-B733-A04C151E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00625"/>
            <a:ext cx="1790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E6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7A6F6E-9928-402B-8A50-7348E2A2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00625"/>
            <a:ext cx="98488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10ED65-5FEB-40B6-B79C-FB80EDDE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53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8 pts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5B7142-06AD-4454-B28F-3F2802D7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53000"/>
            <a:ext cx="100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Remote, national, or regional fit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F0962E-66DD-45DC-A93E-B052A0E9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14600"/>
            <a:ext cx="45529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CDD789-B3F2-488D-9836-8825A164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Sample ranked match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2FA028-6370-4246-BA18-E611C633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Anika Rao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C2C6EB-A4BD-4B5E-B9F6-81D1CB4D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2571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Artificial intelligence - United States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503711-EDA0-436E-AC72-3D3F0FB0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3714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1D0810-2441-4B42-A8A6-851CFCC2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38600"/>
            <a:ext cx="2266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Research Leadership Profile Series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064D8D-EFD6-4E32-921D-493982F0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86250"/>
            <a:ext cx="266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Published Material - AI safety, research, public impact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12240B-8AAF-4C82-BB69-E4EFE17A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0"/>
            <a:ext cx="647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B9DEC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F29E0F-151D-4978-AA27-1187E0F3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67175"/>
            <a:ext cx="647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1745B"/>
                </a:solidFill>
                <a:latin typeface="Inter"/>
                <a:ea typeface="Inter"/>
                <a:cs typeface="Inter"/>
              </a:defRPr>
            </a:pPr>
            <a:r>
              <a:t>69.6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4FA533-A35B-4BD4-BFF0-10304243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149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2491DA-B6C5-45B6-A64F-8B447694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10540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Why it ranked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8603C1-466F-4457-8038-68123176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2324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Open criteria gap, high source trust, strong semantic overlap, and a client-action source link.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4BCFF9-D420-47F0-A99D-DB607312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1D1ACC-6C1D-4341-8F98-7FAB468F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SETU - DISCOVER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45B9DE-45C5-427A-9E21-ABEB9EA5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896344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A2EEA6-B442-4646-B48C-202AA552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PHASE 4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00E3F-BE9A-49E6-8145-5866A8BC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Phase 4 turns discovery into client-ready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FF3A6-00B0-430A-981F-625A4240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429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The admin can preview what a client should see, export evidence packets, and expand the source registry from demand-aware proposals.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BED90-204B-43D6-B939-E1AE8863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095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E194D-6ACC-4E59-ABBA-C4DACD84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DECD7-7FBC-45FD-8248-0B07B72E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2F0EE-6373-455D-B015-D548B266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146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Client portal preview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EF4FB-8E31-4062-AD7C-AEB1E966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62300"/>
            <a:ext cx="2762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Coverage, gaps, next best action, and ranked recommendations.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74426-5543-4877-97F7-DC7BB7E5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B9DE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0CF70-96F8-4053-AA2A-FE3E8EAE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1745B"/>
                </a:solidFill>
                <a:latin typeface="Inter"/>
                <a:ea typeface="Inter"/>
                <a:cs typeface="Inter"/>
              </a:defRPr>
            </a:pPr>
            <a: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D2A9D-3501-4331-9B3E-1C4BA3EE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1950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SETU export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0EA7C1-5739-49D3-A03D-EF12E0CF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67150"/>
            <a:ext cx="2762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JSON evidence packet with source, apply link, criteria, and score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4F01D-72D7-44A5-9790-BC37B98C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DBCE8B-3163-4162-9A8A-3B917859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DA138-917E-4DBE-9799-29C3266E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243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Curator proposals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1ECAD7-94F7-46EA-BE48-A75178EC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72000"/>
            <a:ext cx="2762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New source ideas scored by client demand and inventory gaps.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A42A8E-F444-4DF4-8C20-01F1FC7C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66950"/>
            <a:ext cx="56959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E27B19-5FCE-45C7-973F-BE60A3B9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3400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Local QA render of the Phase 4 tab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628775-73B4-4E19-811C-B9DF18A1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30CED5-F3CA-45AA-B32F-65A5C657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SETU - DISCOVER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66093-16BD-4C20-9CC7-DD92E8F3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05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6eb8ca979446f"/>
          <a:srcRect xmlns:a="http://schemas.openxmlformats.org/drawingml/2006/main" l="0" t="1074" r="0" b="10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10200" y="2419350"/>
            <a:ext cx="539115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1590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F08C38-081B-4FEF-B303-72DAFFAF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59431-16F0-46AF-B63D-0BC8E084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905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AI assists the workflow, humans keep the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25066-0657-46F3-9E66-9DB3E9E7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715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The product uses local deterministic logic by default and optional OpenAI extraction when configured. It does not approve records, send emails, or bypass domain guardrails.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AA137-B526-416D-8AD5-06230695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4767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D029F-69AE-442D-A0D5-285BAEE2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86050"/>
            <a:ext cx="44767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8B8EF-7375-4151-AB9D-9E822D01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Automation assists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23848-59F0-4E13-B04F-12402282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9085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Human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07CDA-1A8E-4CFA-BF69-C9B8C56E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17145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53BEF-4FDB-4CE8-9924-C8592E59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0520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Detect source-page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FCE51-8814-4ED5-A3F6-D98BF605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48100"/>
            <a:ext cx="17145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0998D-88D4-4A3A-A3B6-8C297639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290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Extract candidate opportunity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87E3C-1E7D-4253-A419-ACC5C896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71950"/>
            <a:ext cx="17145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E4421-0674-4F2D-AD8B-9FFA3FA6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5290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Score client/opportunity matches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207FE-AA6F-44E6-92A9-C4F9A0C3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17145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24DEC-93C9-4F61-85B7-33B89980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Recommend source additions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1CB4E6-F20E-4E48-B490-BE6F14CD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19650"/>
            <a:ext cx="17145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A6F213-71D8-4517-86F2-E525FA7E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Build SETU export packets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3D7811-6C5A-43B9-994B-8299DF0D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17145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B9DE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8BF4D-07FE-414B-9F3B-AE332E90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Maintain trusted source registry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3A8FE5-0FCC-4C68-B481-3994BE52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48100"/>
            <a:ext cx="17145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B9DEC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DB7806-6DB2-46CB-950F-8399CD99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Approve or reject review items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86F6C8-CD77-4ABC-8498-F23B7871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71950"/>
            <a:ext cx="17145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B9DEC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B4C9A6-C7F2-45DD-B734-A5555D43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5290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Confirm client communications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EEB368-B92E-47B3-8BBA-CE4994F2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95800"/>
            <a:ext cx="17145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B9DEC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508103-7435-4E8B-A74A-85B9F7C5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Accept curator proposals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4AB59D-4D9B-4C2E-9A1D-B9990C2C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9650"/>
            <a:ext cx="17145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B9DEC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6A3094-AB7C-4891-81A2-B98E1636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0060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Use final evidence in petitions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05C9FE-54C0-4F04-9F72-4A80237D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190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C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012C64-0F54-425A-9A86-7266CBDD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810250"/>
            <a:ext cx="59055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3B400F-D467-43A0-9468-779BB8D9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895975"/>
            <a:ext cx="525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Guardrail: broad pages and missing client links stay out of active inventory.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B6D3E7-6AFA-486F-8B48-2F203A3C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708EF6-1200-41A9-98CB-2915B430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SETU - DISCOVER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B88B64-DF19-4CF0-9F83-1936CEC9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658027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50EC0F-798D-422D-B848-D60C6A95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LOCAL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D34F1-CCCD-4C93-9AC2-A7778356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Postgres-backed and inspectable on localhost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0EE3E-82DA-4446-93EF-2308BF25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810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The product is intentionally simple to run locally: Next.js serves the portal and APIs, repository functions centralize writes, and Postgres holds the durable operating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4F97E-1F60-4C11-A087-BEA94EAE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8DFF1-2AC3-4B40-9669-057B87E9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Next.js portal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A9563-5BAD-4381-BC0A-75196B5A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Admin UI, Phase 4 tab, inventory 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6F7EE-F624-4CED-8C46-E2D97E9B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146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12"/>
          </a:solidFill>
          <a:ln xmlns:a="http://schemas.openxmlformats.org/drawingml/2006/main" w="9525">
            <a:solidFill>
              <a:srgbClr val="B76E1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7DA45-A474-42F1-9804-E72E688E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95550"/>
            <a:ext cx="22479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591E0-5DDD-4996-A72B-3D818816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43200"/>
            <a:ext cx="1676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API routes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DCDB2-BA77-416E-9DAF-BCC4DC7E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4800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3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/api/state - Dashboard data spine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8B833-4D94-42F6-B230-352CFCAD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0040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3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/api/events - Inventory CRUD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CDFA7-E135-40AA-9867-5ACDC97A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5280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3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/api/matches - Rank and log recommendations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99EA5-C579-463D-883D-1163C208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0520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3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/api/phase4 - Client preview and curator proposals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156D3-0F72-41AA-9034-29AAB019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5760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3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/api/exports/setu - SETU evidence packet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17A34-58E6-4F84-97F1-2BA19474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146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12"/>
          </a:solidFill>
          <a:ln xmlns:a="http://schemas.openxmlformats.org/drawingml/2006/main" w="9525">
            <a:solidFill>
              <a:srgbClr val="B76E1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84B2A-689F-4602-84B3-C3628A5E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860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B9DE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E023BF-E2BF-4F17-8981-08A05670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146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1745B"/>
                </a:solidFill>
                <a:latin typeface="Inter"/>
                <a:ea typeface="Inter"/>
                <a:cs typeface="Inter"/>
              </a:defRPr>
            </a:pPr>
            <a:r>
              <a:t>Repository layer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2BBF11-D5BA-41B9-BB26-3117C80D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8135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Guarded writes, status derivation, match logs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B20D81-87D1-4BF9-80BF-8486A715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146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12"/>
          </a:solidFill>
          <a:ln xmlns:a="http://schemas.openxmlformats.org/drawingml/2006/main" w="9525">
            <a:solidFill>
              <a:srgbClr val="B76E1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CB802F-360A-4E00-869D-D9B49305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86050"/>
            <a:ext cx="16573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F68DF-E93D-4C9D-A8D1-609915CD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1465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PostgreSQL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7C42BB-0E17-4A52-8F71-D85B89A4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8135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events, sources, clients, runs,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17B972-E285-48E1-8075-FE262C29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81500"/>
            <a:ext cx="3619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673A2A-CE31-4C6D-8925-510159C7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291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Worker scripts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15D60C-40CA-40C1-A518-BCD942D5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149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phase2:run, phase2:schedule, phase3:run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A84A7D-F345-44E6-ACCD-B882F6EE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3619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F944CC-98CE-4FDC-8E6D-399EDD3F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2915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Optional OpenAI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CD8931-A3C2-4DC0-95A7-ECD12382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149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Used only for extraction escalation when configured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C61A22-A6B0-49B7-A228-97E6F500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DB2660-5496-43D9-A395-C45D9377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SETU - DISCOVER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660F74-71D1-408F-AF42-6081F21A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980860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0A101A-4E4F-4644-A4CC-9DB71250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REVIEW AND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7281D-911A-4AB7-8DCB-71DA9852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239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Ready for Phase 4 review and signoff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5C36A-59F6-447E-AF70-CFD2CAF2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23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The product is now a local SETU discovery system with documentation, technical architecture, and a review deck included in the repository.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31B79-8CA3-4D68-9B9B-2E28525F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46482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F8737-28EF-4392-B05D-C8093FDD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28900"/>
            <a:ext cx="46482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F1730-805B-4B5A-9060-AC622F0A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314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What the product can 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DB88D-B1FF-4F81-9A7D-E24BCE43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14650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Review checklist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5661E-1EA4-4420-9271-E96689AF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379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- Maintain clients and opportunity inventory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22A15-BAD4-4363-B1C9-6AE714B9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90925"/>
            <a:ext cx="379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- Import 45 canonical EB-1A 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7F6BA-8662-4FD2-83D7-11C54EA5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29050"/>
            <a:ext cx="379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- Refresh guarded source pages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D83459-A927-4460-B130-1C160134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67175"/>
            <a:ext cx="379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- Run constrained Phase 3 discovery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B9581-D0B0-42A0-95A9-1AFF0CD2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05300"/>
            <a:ext cx="379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- Review uncertain candidates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75CCF-7257-4EE8-A948-78A64523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43425"/>
            <a:ext cx="379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- Rank matches with semantic signal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268C4-C720-4CA0-9718-EDF0EB23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81550"/>
            <a:ext cx="379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- Send or simulate recommendation emails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5A1823-1C7D-4386-B501-54A8A77D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379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90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- Export SETU evidence packets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256816-08CA-4089-97A9-20C86ECD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3714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6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- Dashboard reads active inventory by category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16C1D9-74E2-4073-B110-F6B33C78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3714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6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- Inventory shows added date for scanability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311684-549A-4D7E-A694-84200EF0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3714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6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- Only real client-action links are active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8AF186-F69A-4714-91AD-6D8D0B4E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62450"/>
            <a:ext cx="3714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6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- Phase 4 preview and export work locally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C8F5F9-5F1A-4721-B2BE-A606E8AA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86300"/>
            <a:ext cx="3714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6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- Docs and deck are committed to GitHub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FA13E0-D868-46D2-9588-3F8FBEAE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42FE38-6E7C-4947-AD80-BDAC6890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1505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Local app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5328A7-67C5-41C5-8CF3-B17D45B4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6115050"/>
            <a:ext cx="209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http://localhost:3004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32C185-DAB8-4EDB-94A0-6A415C39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115050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GitHub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1D9248-9764-41ED-BD34-85F9EDA7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11505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github.com/dlk710/setu-discover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FB30DA-22B8-45C4-BC96-200AC657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115050"/>
            <a:ext cx="47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Docs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37208F-50FC-4D1C-9541-2FC2B3EC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115050"/>
            <a:ext cx="209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README + docs folder + product deck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F98522-F77C-4332-A09C-319D2123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41A7FC-7BAD-430E-9315-CACF0A27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SETU - DISCOVER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59F272-73B5-44D1-8C3A-B2BBA860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65604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2026-06-04T20:54:23.5700000Z</dcterms:created>
  <dcterms:modified xsi:type="dcterms:W3CDTF">2026-06-04T20:54:23.5700000Z</dcterms:modified>
</coreProperties>
</file>